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69" r:id="rId4"/>
    <p:sldId id="278" r:id="rId5"/>
    <p:sldId id="280" r:id="rId6"/>
    <p:sldId id="279" r:id="rId7"/>
    <p:sldId id="287" r:id="rId8"/>
    <p:sldId id="288" r:id="rId9"/>
    <p:sldId id="275" r:id="rId10"/>
    <p:sldId id="281" r:id="rId11"/>
    <p:sldId id="282" r:id="rId12"/>
    <p:sldId id="283" r:id="rId13"/>
    <p:sldId id="284" r:id="rId14"/>
    <p:sldId id="285" r:id="rId15"/>
    <p:sldId id="286" r:id="rId16"/>
    <p:sldId id="270" r:id="rId17"/>
    <p:sldId id="265" r:id="rId18"/>
    <p:sldId id="266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7690726-49DA-4552-BDEB-330DD8EA8BD9}" styleName="Table_0">
    <a:wholeTbl>
      <a:tcTxStyle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20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 panose="020B0604030504040204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/>
          <a:srcRect b="18046"/>
          <a:stretch>
            <a:fillRect/>
          </a:stretch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553085" y="1069102"/>
            <a:ext cx="10600584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Crowdsourced Civic Issue Reporting and Resolution System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914401" y="2298582"/>
            <a:ext cx="4267198" cy="299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Batch Number:</a:t>
            </a:r>
            <a:r>
              <a:rPr lang="en-US" altLang="en-GB" sz="1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COM_15</a:t>
            </a:r>
          </a:p>
        </p:txBody>
      </p:sp>
      <p:sp>
        <p:nvSpPr>
          <p:cNvPr id="90" name="Google Shape;90;p13"/>
          <p:cNvSpPr txBox="1"/>
          <p:nvPr/>
        </p:nvSpPr>
        <p:spPr>
          <a:xfrm>
            <a:off x="7267357" y="2479855"/>
            <a:ext cx="4661787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   Under the Supervision of,</a:t>
            </a:r>
            <a:endParaRPr sz="18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US" altLang="en-GB" sz="2400" b="1" i="0" u="none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                  </a:t>
            </a:r>
            <a:r>
              <a:rPr lang="en-GB" altLang="en-GB" sz="2400" b="1" i="0" u="none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Ms. Babitha S</a:t>
            </a:r>
            <a:endParaRPr lang="en-GB" altLang="en-GB" sz="1800" b="1" dirty="0">
              <a:solidFill>
                <a:srgbClr val="17365D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   School of Computer Science and Engineering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US" altLang="en-GB" sz="1700" b="1" i="0" u="none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                            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Presidency University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  <a:sym typeface="Verdana" panose="020B0604030504040204"/>
            </a:endParaRPr>
          </a:p>
        </p:txBody>
      </p:sp>
      <p:graphicFrame>
        <p:nvGraphicFramePr>
          <p:cNvPr id="89" name="Google Shape;89;p13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8271458"/>
              </p:ext>
            </p:extLst>
          </p:nvPr>
        </p:nvGraphicFramePr>
        <p:xfrm>
          <a:off x="690389" y="2697898"/>
          <a:ext cx="4661787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354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76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3961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 dirty="0">
                        <a:solidFill>
                          <a:srgbClr val="17365D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 dirty="0">
                        <a:solidFill>
                          <a:srgbClr val="17365D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96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lang="en-US" sz="18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96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96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96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96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11677" y="168334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CSE7302 – University Project</a:t>
            </a:r>
            <a:endParaRPr sz="18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Review-2</a:t>
            </a:r>
            <a:endParaRPr sz="1800" b="1" i="0" u="none" strike="noStrike" cap="none" dirty="0">
              <a:solidFill>
                <a:srgbClr val="17365D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  <a:sym typeface="Verdana" panose="020B06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690389" y="4600661"/>
            <a:ext cx="12240937" cy="1657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B.TECH CSE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HoD: </a:t>
            </a:r>
            <a:r>
              <a:rPr lang="en-US" sz="1800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Dr.Gopalkirshna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Shyam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 Project Coordinator: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Ms.Sumita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Guddin</a:t>
            </a:r>
            <a:endParaRPr lang="en-US" sz="18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School Project Coordinators: </a:t>
            </a:r>
            <a:r>
              <a:rPr lang="en-US" sz="1800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Dr.Samapth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A K &amp; </a:t>
            </a:r>
            <a:r>
              <a:rPr lang="en-US" sz="1800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Dr.Geetha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Arjunan</a:t>
            </a:r>
            <a:endParaRPr lang="en-US"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C2C57C2-EA8B-816E-98D9-8F74F3CEDF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0770085"/>
              </p:ext>
            </p:extLst>
          </p:nvPr>
        </p:nvGraphicFramePr>
        <p:xfrm>
          <a:off x="690389" y="2864233"/>
          <a:ext cx="5559410" cy="1464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9705">
                  <a:extLst>
                    <a:ext uri="{9D8B030D-6E8A-4147-A177-3AD203B41FA5}">
                      <a16:colId xmlns:a16="http://schemas.microsoft.com/office/drawing/2014/main" val="3702718339"/>
                    </a:ext>
                  </a:extLst>
                </a:gridCol>
                <a:gridCol w="2779705">
                  <a:extLst>
                    <a:ext uri="{9D8B030D-6E8A-4147-A177-3AD203B41FA5}">
                      <a16:colId xmlns:a16="http://schemas.microsoft.com/office/drawing/2014/main" val="4218630733"/>
                    </a:ext>
                  </a:extLst>
                </a:gridCol>
              </a:tblGrid>
              <a:tr h="366122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3011732204"/>
                  </a:ext>
                </a:extLst>
              </a:tr>
              <a:tr h="36612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20221COM0084                   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VISHNU M</a:t>
                      </a:r>
                      <a:endParaRPr sz="18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4108448563"/>
                  </a:ext>
                </a:extLst>
              </a:tr>
              <a:tr h="36612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20221COM0096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 AKASH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76073781"/>
                  </a:ext>
                </a:extLst>
              </a:tr>
              <a:tr h="36612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20221COM0099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JAGADISH T S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23599963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575354" y="762138"/>
            <a:ext cx="11044718" cy="531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Analysis of 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Methods and Drawbacks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 &amp; Feasibility Study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Software Details 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 (Gantt Chart) 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  <a:endParaRPr lang="en-US" sz="64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sz="7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7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3732" y="274638"/>
            <a:ext cx="10667068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Statement Number</a:t>
            </a:r>
            <a:r>
              <a:rPr lang="en-US" altLang="en-GB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SIH25031</a:t>
            </a:r>
            <a:endParaRPr lang="en-US" altLang="en-GB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45952" y="989901"/>
            <a:ext cx="10834848" cy="510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7500"/>
          </a:bodyPr>
          <a:lstStyle/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Description: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alt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Citizens frequently encounter civic issues such as potholes, garbage overflow,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alt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water leakage, broken streetlights, and sanitation problems. 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alt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Existing complaint mechanisms are fragmented, manual, or lack transparency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alt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and real-time tracking. This results in delayed resolution and poor accountability. 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alt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There is a need for a centralized, crowdsourced digital platform that allows citizens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alt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to report civic issues and enables authorities to efficiently monitor and resolve them.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562D3-3402-043A-2BFA-E830B02F7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02A9F9-8749-62AF-5C2B-3E57F9D6F7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675" y="956345"/>
            <a:ext cx="10776125" cy="5139656"/>
          </a:xfrm>
        </p:spPr>
        <p:txBody>
          <a:bodyPr>
            <a:normAutofit/>
          </a:bodyPr>
          <a:lstStyle/>
          <a:p>
            <a:pPr marL="7620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proposes a cloud-based, crowdsourced civic issue reporting and resolution system aimed at improving urban governance and public service delivery. The system enables citizens to report civic issues through a web interface by submitting descriptions and images. Authorities can monitor, manage, and resolve issues via a centralized dashboard with real-time updates. The proposed solution leverages serverless cloud architecture to ensure scalability, cost efficiency, transparency, and improved accountability in civic administration.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1854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D8D9C-73A2-8F37-AAD8-265A5063B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305CA7-9352-BCC1-11A7-681727468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939567"/>
            <a:ext cx="10668000" cy="5156434"/>
          </a:xfrm>
        </p:spPr>
        <p:txBody>
          <a:bodyPr>
            <a:normAutofit fontScale="25000" lnSpcReduction="20000"/>
          </a:bodyPr>
          <a:lstStyle/>
          <a:p>
            <a:pPr marL="76200" indent="0">
              <a:buNone/>
            </a:pP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Summary :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sz="4400" b="1" dirty="0"/>
              <a:t>1) Ilamaran et al. (2025) – Crowdsourced Civic Issue Reporting and Resolution System</a:t>
            </a:r>
          </a:p>
          <a:p>
            <a:pPr marL="76200" indent="0">
              <a:buNone/>
            </a:pPr>
            <a:r>
              <a:rPr lang="en-IN" sz="4400" i="1" dirty="0"/>
              <a:t>(IJRPR – </a:t>
            </a:r>
            <a:r>
              <a:rPr lang="en-IN" sz="4400" b="1" i="1" dirty="0"/>
              <a:t>BASE PAPER</a:t>
            </a:r>
            <a:r>
              <a:rPr lang="en-IN" sz="4400" i="1" dirty="0"/>
              <a:t>)</a:t>
            </a:r>
            <a:endParaRPr lang="en-IN" sz="4400" dirty="0"/>
          </a:p>
          <a:p>
            <a:r>
              <a:rPr lang="en-IN" sz="4400" dirty="0"/>
              <a:t>Proposes a </a:t>
            </a:r>
            <a:r>
              <a:rPr lang="en-IN" sz="4400" b="1" dirty="0"/>
              <a:t>cloud-based, crowdsourced platform</a:t>
            </a:r>
            <a:r>
              <a:rPr lang="en-IN" sz="4400" dirty="0"/>
              <a:t> for reporting civic issues</a:t>
            </a:r>
          </a:p>
          <a:p>
            <a:r>
              <a:rPr lang="en-IN" sz="4400" dirty="0"/>
              <a:t>Citizens upload </a:t>
            </a:r>
            <a:r>
              <a:rPr lang="en-IN" sz="4400" b="1" dirty="0"/>
              <a:t>images, descriptions, and geotagged locations</a:t>
            </a:r>
            <a:endParaRPr lang="en-IN" sz="4400" dirty="0"/>
          </a:p>
          <a:p>
            <a:r>
              <a:rPr lang="en-IN" sz="4400" dirty="0"/>
              <a:t>Uses </a:t>
            </a:r>
            <a:r>
              <a:rPr lang="en-IN" sz="4400" b="1" dirty="0"/>
              <a:t>machine learning</a:t>
            </a:r>
            <a:r>
              <a:rPr lang="en-IN" sz="4400" dirty="0"/>
              <a:t> for issue categorization, duplicate detection, and prioritization</a:t>
            </a:r>
          </a:p>
          <a:p>
            <a:r>
              <a:rPr lang="en-IN" sz="4400" dirty="0"/>
              <a:t>Provides </a:t>
            </a:r>
            <a:r>
              <a:rPr lang="en-IN" sz="4400" b="1" dirty="0"/>
              <a:t>real-time tracking</a:t>
            </a:r>
            <a:r>
              <a:rPr lang="en-IN" sz="4400" dirty="0"/>
              <a:t> and a </a:t>
            </a:r>
            <a:r>
              <a:rPr lang="en-IN" sz="4400" b="1" dirty="0"/>
              <a:t>centralized dashboard</a:t>
            </a:r>
            <a:r>
              <a:rPr lang="en-IN" sz="4400" dirty="0"/>
              <a:t> for authorities</a:t>
            </a:r>
          </a:p>
          <a:p>
            <a:pPr marL="76200" indent="0">
              <a:buNone/>
            </a:pPr>
            <a:r>
              <a:rPr lang="en-IN" sz="4400" b="1" dirty="0"/>
              <a:t>Limitation:</a:t>
            </a:r>
            <a:endParaRPr lang="en-IN" sz="4400" dirty="0"/>
          </a:p>
          <a:p>
            <a:r>
              <a:rPr lang="en-IN" sz="4400" dirty="0"/>
              <a:t>High system complexity</a:t>
            </a:r>
          </a:p>
          <a:p>
            <a:r>
              <a:rPr lang="en-IN" sz="4400" dirty="0"/>
              <a:t>Heavy ML dependence increases computational cost</a:t>
            </a:r>
          </a:p>
          <a:p>
            <a:r>
              <a:rPr lang="en-IN" sz="4400" dirty="0"/>
              <a:t>Not optimized for </a:t>
            </a:r>
            <a:r>
              <a:rPr lang="en-IN" sz="4400" b="1" dirty="0"/>
              <a:t>serverless / free-tier cloud deployment</a:t>
            </a:r>
            <a:endParaRPr lang="en-IN" sz="4400" dirty="0"/>
          </a:p>
          <a:p>
            <a:br>
              <a:rPr lang="en-IN" sz="4400" dirty="0"/>
            </a:br>
            <a:endParaRPr lang="en-IN" sz="4400" dirty="0"/>
          </a:p>
          <a:p>
            <a:pPr marL="76200" indent="0">
              <a:buNone/>
            </a:pPr>
            <a:r>
              <a:rPr lang="en-IN" sz="4400" b="1" dirty="0"/>
              <a:t>2) Kurian et al. (2026) – </a:t>
            </a:r>
            <a:r>
              <a:rPr lang="en-IN" sz="4400" b="1" dirty="0" err="1"/>
              <a:t>SmartReporter</a:t>
            </a:r>
            <a:r>
              <a:rPr lang="en-IN" sz="4400" b="1" dirty="0"/>
              <a:t>: A Crowdsourced Complaint Resolution System</a:t>
            </a:r>
          </a:p>
          <a:p>
            <a:pPr marL="76200" indent="0">
              <a:buNone/>
            </a:pPr>
            <a:r>
              <a:rPr lang="en-IN" sz="4400" i="1" dirty="0"/>
              <a:t>(IJERT)</a:t>
            </a:r>
            <a:endParaRPr lang="en-IN" sz="4400" dirty="0"/>
          </a:p>
          <a:p>
            <a:r>
              <a:rPr lang="en-IN" sz="4400" dirty="0"/>
              <a:t>Web-based civic issue reporting platform</a:t>
            </a:r>
          </a:p>
          <a:p>
            <a:r>
              <a:rPr lang="en-IN" sz="4400" dirty="0"/>
              <a:t>Uses </a:t>
            </a:r>
            <a:r>
              <a:rPr lang="en-IN" sz="4400" b="1" dirty="0"/>
              <a:t>YOLOv8 / YOLOv9 deep learning models</a:t>
            </a:r>
            <a:r>
              <a:rPr lang="en-IN" sz="4400" dirty="0"/>
              <a:t> for image-based issue detection</a:t>
            </a:r>
          </a:p>
          <a:p>
            <a:r>
              <a:rPr lang="en-IN" sz="4400" dirty="0"/>
              <a:t>Automatically classifies potholes, garbage, streetlight faults</a:t>
            </a:r>
          </a:p>
          <a:p>
            <a:r>
              <a:rPr lang="en-IN" sz="4400" dirty="0"/>
              <a:t>Provides </a:t>
            </a:r>
            <a:r>
              <a:rPr lang="en-IN" sz="4400" b="1" dirty="0"/>
              <a:t>real-time dashboards and analytics</a:t>
            </a:r>
            <a:endParaRPr lang="en-IN" sz="4400" dirty="0"/>
          </a:p>
          <a:p>
            <a:pPr marL="76200" indent="0">
              <a:buNone/>
            </a:pPr>
            <a:r>
              <a:rPr lang="en-IN" sz="4400" b="1" dirty="0"/>
              <a:t>Limitation:</a:t>
            </a:r>
            <a:endParaRPr lang="en-IN" sz="4400" dirty="0"/>
          </a:p>
          <a:p>
            <a:r>
              <a:rPr lang="en-IN" sz="4400" dirty="0"/>
              <a:t>Requires </a:t>
            </a:r>
            <a:r>
              <a:rPr lang="en-IN" sz="4400" b="1" dirty="0"/>
              <a:t>GPU resources</a:t>
            </a:r>
            <a:endParaRPr lang="en-IN" sz="4400" dirty="0"/>
          </a:p>
          <a:p>
            <a:r>
              <a:rPr lang="en-IN" sz="4400" dirty="0"/>
              <a:t>High inference cost</a:t>
            </a:r>
          </a:p>
          <a:p>
            <a:r>
              <a:rPr lang="en-IN" sz="4400" dirty="0"/>
              <a:t>Not feasible for </a:t>
            </a:r>
            <a:r>
              <a:rPr lang="en-IN" sz="4400" b="1" dirty="0"/>
              <a:t>student-level or free-cloud deployment</a:t>
            </a:r>
            <a:endParaRPr lang="en-IN" sz="4400" dirty="0"/>
          </a:p>
          <a:p>
            <a:br>
              <a:rPr lang="en-IN" dirty="0"/>
            </a:br>
            <a:endParaRPr lang="en-IN" dirty="0"/>
          </a:p>
          <a:p>
            <a:pPr marL="7620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9231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2E747-7905-7D7B-E516-5CDA4B314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F8E738-7C68-FDE7-C8AC-9BF874CD98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1040235"/>
            <a:ext cx="10668000" cy="5055766"/>
          </a:xfrm>
        </p:spPr>
        <p:txBody>
          <a:bodyPr>
            <a:normAutofit fontScale="55000" lnSpcReduction="20000"/>
          </a:bodyPr>
          <a:lstStyle/>
          <a:p>
            <a:pPr marL="7620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Walwadkar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 (2022) – Smart Civic Issue Reporting System</a:t>
            </a:r>
          </a:p>
          <a:p>
            <a:pPr marL="76200" indent="0">
              <a:buNone/>
            </a:pP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(IJARSCT)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Android-based complaint reporting system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+ RNN hybrid model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(SVM)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detect complaint severity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GPS and camera for evidence collection</a:t>
            </a:r>
          </a:p>
          <a:p>
            <a:pPr marL="7620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Over-engineered ML architecture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large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labeled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Android-only; not web or cloud-native</a:t>
            </a:r>
          </a:p>
          <a:p>
            <a:pPr marL="76200" indent="0">
              <a:buNone/>
            </a:pP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Shukla et al. (2024) – Civic Complaint Registration Application for Urban/Rural Areas</a:t>
            </a:r>
          </a:p>
          <a:p>
            <a:pPr marL="76200" indent="0">
              <a:buNone/>
            </a:pP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(JETIR)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Android application for civic complaint registration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 (Faster R-CNN)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issue categorization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Maps API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geolocation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admin and user dashboards</a:t>
            </a:r>
          </a:p>
          <a:p>
            <a:pPr marL="7620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Mobile-only system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image-processing overhead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scalability discussion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9589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EFD8D-45DA-BFCC-CBD9-4801D2843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50F768-843B-1042-F702-263AC2ABFF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76200" indent="0">
              <a:buNone/>
            </a:pPr>
            <a:r>
              <a:rPr lang="en-IN" sz="3700" b="1" dirty="0"/>
              <a:t>5) Meshram et al. (2025) – Smart Civic Issue Reporting, Resolution &amp; Waste Recycle Reward System</a:t>
            </a:r>
          </a:p>
          <a:p>
            <a:pPr marL="76200" indent="0">
              <a:buNone/>
            </a:pPr>
            <a:r>
              <a:rPr lang="en-IN" sz="3700" i="1" dirty="0"/>
              <a:t>(IJARESM)</a:t>
            </a:r>
            <a:endParaRPr lang="en-IN" sz="3700" dirty="0"/>
          </a:p>
          <a:p>
            <a:r>
              <a:rPr lang="en-IN" sz="3700" dirty="0"/>
              <a:t>Full-stack web-based civic issue platform</a:t>
            </a:r>
          </a:p>
          <a:p>
            <a:r>
              <a:rPr lang="en-IN" sz="3700" dirty="0"/>
              <a:t>Adds </a:t>
            </a:r>
            <a:r>
              <a:rPr lang="en-IN" sz="3700" b="1" dirty="0"/>
              <a:t>AI-generated descriptions</a:t>
            </a:r>
            <a:endParaRPr lang="en-IN" sz="3700" dirty="0"/>
          </a:p>
          <a:p>
            <a:r>
              <a:rPr lang="en-IN" sz="3700" dirty="0"/>
              <a:t>Introduces </a:t>
            </a:r>
            <a:r>
              <a:rPr lang="en-IN" sz="3700" b="1" dirty="0"/>
              <a:t>waste recycling and reward-based gamification</a:t>
            </a:r>
            <a:endParaRPr lang="en-IN" sz="3700" dirty="0"/>
          </a:p>
          <a:p>
            <a:r>
              <a:rPr lang="en-IN" sz="3700" dirty="0"/>
              <a:t>Encourages citizen participation using points and leaderboards</a:t>
            </a:r>
          </a:p>
          <a:p>
            <a:pPr marL="76200" indent="0">
              <a:buNone/>
            </a:pPr>
            <a:r>
              <a:rPr lang="en-IN" sz="3700" b="1" dirty="0"/>
              <a:t>Limitation:</a:t>
            </a:r>
            <a:endParaRPr lang="en-IN" sz="3700" dirty="0"/>
          </a:p>
          <a:p>
            <a:r>
              <a:rPr lang="en-IN" sz="3700" dirty="0"/>
              <a:t>Very broad scope</a:t>
            </a:r>
          </a:p>
          <a:p>
            <a:r>
              <a:rPr lang="en-IN" sz="3700" dirty="0"/>
              <a:t>Increased system complexity</a:t>
            </a:r>
          </a:p>
          <a:p>
            <a:r>
              <a:rPr lang="en-IN" sz="3700" dirty="0"/>
              <a:t>Reward focus diverts attention from core resolution workflow</a:t>
            </a:r>
          </a:p>
          <a:p>
            <a:pPr marL="76200" indent="0">
              <a:buNone/>
            </a:pPr>
            <a:br>
              <a:rPr lang="en-IN" sz="3700" dirty="0"/>
            </a:br>
            <a:endParaRPr lang="en-IN" sz="3700" dirty="0"/>
          </a:p>
          <a:p>
            <a:pPr marL="76200" indent="0">
              <a:buNone/>
            </a:pPr>
            <a:r>
              <a:rPr lang="en-IN" sz="3700" b="1" dirty="0"/>
              <a:t>6) </a:t>
            </a:r>
            <a:r>
              <a:rPr lang="en-IN" sz="3700" b="1" dirty="0" err="1"/>
              <a:t>Walwadkar</a:t>
            </a:r>
            <a:r>
              <a:rPr lang="en-IN" sz="3700" b="1" dirty="0"/>
              <a:t> et al. (2022) – Smart Civic Issue Reporting using CNN–RNN &amp; NLP</a:t>
            </a:r>
          </a:p>
          <a:p>
            <a:r>
              <a:rPr lang="en-IN" sz="3700" i="1" dirty="0"/>
              <a:t>(IJARSCT – Extended ML Focus)</a:t>
            </a:r>
            <a:endParaRPr lang="en-IN" sz="3700" dirty="0"/>
          </a:p>
          <a:p>
            <a:r>
              <a:rPr lang="en-IN" sz="3700" dirty="0"/>
              <a:t>Uses </a:t>
            </a:r>
            <a:r>
              <a:rPr lang="en-IN" sz="3700" b="1" dirty="0"/>
              <a:t>CNN–RNN hybrid</a:t>
            </a:r>
            <a:r>
              <a:rPr lang="en-IN" sz="3700" dirty="0"/>
              <a:t> for image-based issue analysis</a:t>
            </a:r>
          </a:p>
          <a:p>
            <a:r>
              <a:rPr lang="en-IN" sz="3700" dirty="0"/>
              <a:t>Applies </a:t>
            </a:r>
            <a:r>
              <a:rPr lang="en-IN" sz="3700" b="1" dirty="0"/>
              <a:t>SVM-based NLP</a:t>
            </a:r>
            <a:r>
              <a:rPr lang="en-IN" sz="3700" dirty="0"/>
              <a:t> for severity detection</a:t>
            </a:r>
          </a:p>
          <a:p>
            <a:r>
              <a:rPr lang="en-IN" sz="3700" dirty="0"/>
              <a:t>Automatically routes complaints to departments</a:t>
            </a:r>
          </a:p>
          <a:p>
            <a:pPr marL="76200" indent="0">
              <a:buNone/>
            </a:pPr>
            <a:r>
              <a:rPr lang="en-IN" sz="3700" b="1" dirty="0"/>
              <a:t>Limitation:</a:t>
            </a:r>
            <a:endParaRPr lang="en-IN" sz="3700" dirty="0"/>
          </a:p>
          <a:p>
            <a:r>
              <a:rPr lang="en-IN" sz="3700" dirty="0"/>
              <a:t>High training and maintenance cost</a:t>
            </a:r>
          </a:p>
          <a:p>
            <a:r>
              <a:rPr lang="en-IN" sz="3700" dirty="0"/>
              <a:t>Not suitable for low-resource environments</a:t>
            </a:r>
          </a:p>
          <a:p>
            <a:r>
              <a:rPr lang="en-IN" sz="3700" dirty="0"/>
              <a:t>Difficult to deploy on free cloud platforms</a:t>
            </a:r>
          </a:p>
          <a:p>
            <a:pPr marL="76200" indent="0">
              <a:buNone/>
            </a:pPr>
            <a:br>
              <a:rPr lang="en-IN" sz="3200" dirty="0"/>
            </a:br>
            <a:endParaRPr lang="en-IN" sz="3200" dirty="0"/>
          </a:p>
          <a:p>
            <a:pPr marL="762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9527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99144-5DC0-5494-7EFE-CB352B916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79FD7E-1F7D-3384-DF90-1FFE9C6DB5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7) Mohanty et al. (2025) – Crowdsourced Complaint Resolution using Geotagging</a:t>
            </a:r>
          </a:p>
          <a:p>
            <a:r>
              <a:rPr lang="en-I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(IRJMETS)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Flutter-based mobile application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Citizens report civic issues with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tagging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community upvoting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complaint validation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Ticket-based escalation mechanism</a:t>
            </a:r>
          </a:p>
          <a:p>
            <a:pPr marL="76200" indent="0">
              <a:buNone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Limitation: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civic categories (mostly road issues)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intelligent automation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Mobile-app dependency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5616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1143001"/>
            <a:ext cx="10668000" cy="4100118"/>
          </a:xfrm>
        </p:spPr>
        <p:txBody>
          <a:bodyPr/>
          <a:lstStyle/>
          <a:p>
            <a:r>
              <a:rPr lang="en-US" altLang="en-US" sz="2200" dirty="0"/>
              <a:t>To develop a centralized web-based platform for reporting civic issues.</a:t>
            </a:r>
          </a:p>
          <a:p>
            <a:pPr marL="76200" indent="0">
              <a:buNone/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00" dirty="0"/>
              <a:t>To enable citizens to submit complaints with descriptions and images.</a:t>
            </a:r>
          </a:p>
          <a:p>
            <a:pPr marL="76200" indent="0">
              <a:buNone/>
            </a:pPr>
            <a:endParaRPr lang="en-US" altLang="en-US" sz="2200" dirty="0"/>
          </a:p>
          <a:p>
            <a:r>
              <a:rPr lang="en-US" altLang="en-US" sz="2200" dirty="0"/>
              <a:t>To allow authorities to track, manage, and resolve issues efficiently.</a:t>
            </a:r>
          </a:p>
          <a:p>
            <a:pPr marL="76200" indent="0">
              <a:buNone/>
            </a:pPr>
            <a:endParaRPr lang="en-US" altLang="en-US" sz="2200" dirty="0"/>
          </a:p>
          <a:p>
            <a:r>
              <a:rPr lang="en-US" altLang="en-US" sz="2200" dirty="0"/>
              <a:t>To improve transparency and accountability in civic governance.</a:t>
            </a:r>
          </a:p>
          <a:p>
            <a:pPr marL="76200" indent="0">
              <a:buNone/>
            </a:pPr>
            <a:endParaRPr lang="en-US" altLang="en-US" sz="2200" dirty="0"/>
          </a:p>
          <a:p>
            <a:r>
              <a:rPr lang="en-US" altLang="en-US" sz="2200" dirty="0"/>
              <a:t>To encourage citizen participation through crowdsourced reporting.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245BD-6D4A-B48F-CFB8-D435B8D82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METHODS &amp; DRAWBACKS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7D16FF-C33B-E7F4-3042-B12063A3D9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947956"/>
            <a:ext cx="10668000" cy="5148045"/>
          </a:xfrm>
        </p:spPr>
        <p:txBody>
          <a:bodyPr>
            <a:normAutofit fontScale="92500" lnSpcReduction="10000"/>
          </a:bodyPr>
          <a:lstStyle/>
          <a:p>
            <a:pPr marL="7620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Methods 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Municipal grievance portals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complaint apps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complaint registers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Email-based reporting systems</a:t>
            </a:r>
          </a:p>
          <a:p>
            <a:pPr marL="7620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Drawbacks 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tracking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user engagement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centralized dashboard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transparency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issue resolution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scalability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9021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BB91B-E8ED-9381-C833-C32D213F1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EE0983-79E3-D385-B48E-AECF8BFA94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939567"/>
            <a:ext cx="10668000" cy="5156434"/>
          </a:xfrm>
        </p:spPr>
        <p:txBody>
          <a:bodyPr>
            <a:normAutofit lnSpcReduction="10000"/>
          </a:bodyPr>
          <a:lstStyle/>
          <a:p>
            <a:pPr marL="7620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 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 cloud-based, serverless web application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Citizens submit civic issues with images and descriptions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Authorities access centralized dashboards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status updates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(Citizen / Authority / Admin)</a:t>
            </a:r>
          </a:p>
          <a:p>
            <a:pPr marL="7620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 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Crowdsourced reporting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cloud synchronization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 infrastructure cost (free-tier cloud)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and transparent system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40808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4EA60-261D-E5C8-2513-7F518D4E0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STUDY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859675-AF29-1294-901A-985AC343E3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956345"/>
            <a:ext cx="10668000" cy="5139656"/>
          </a:xfrm>
        </p:spPr>
        <p:txBody>
          <a:bodyPr>
            <a:normAutofit fontScale="85000" lnSpcReduction="20000"/>
          </a:bodyPr>
          <a:lstStyle/>
          <a:p>
            <a:pPr marL="7620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Feasibility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proven cloud platforms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hardware dependency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Serverless architecture</a:t>
            </a:r>
          </a:p>
          <a:p>
            <a:pPr marL="7620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Feasibility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100% free-tier cloud services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maintenance or server cost</a:t>
            </a:r>
          </a:p>
          <a:p>
            <a:pPr marL="7620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Feasibility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UI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Minimal training required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Accessible via browser</a:t>
            </a:r>
          </a:p>
          <a:p>
            <a:pPr marL="7620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Feasibility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Auto-scaling cloud infrastructure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68203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E39FB-43D2-7078-8594-46FA642DB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80520A-CB51-C6FE-9F47-D49BDC5529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895" y="1059111"/>
            <a:ext cx="10943905" cy="492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7279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4BA8B-3829-0CA1-6680-AB824B247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9B785A-813B-9106-2D43-5FE330BB6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939567"/>
            <a:ext cx="10668000" cy="5156434"/>
          </a:xfrm>
        </p:spPr>
        <p:txBody>
          <a:bodyPr/>
          <a:lstStyle/>
          <a:p>
            <a:pPr marL="7620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Modules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 Module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Citizen Issue Reporting Module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 Management Module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Authority Dashboard Module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&amp; Analytics Module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 &amp; Status Update Module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11814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568EB-F0D3-8C05-F8A5-AB313E9EB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DETAILS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438EA-42EA-6B3F-1D65-7F72F4AE3E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872455"/>
            <a:ext cx="10668000" cy="5223546"/>
          </a:xfrm>
        </p:spPr>
        <p:txBody>
          <a:bodyPr/>
          <a:lstStyle/>
          <a:p>
            <a:pPr marL="7620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Stack :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React.js, HTML, CSS, JavaScript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Serverless Functions (Node.js / Python)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Cloud NoSQL Database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Cloud Object Storage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Cloud-based Authentication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 Control: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GitHub (Public Repository)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35362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2C926DD-9556-93A4-7ABB-79FFDB479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 (GANTT CHART)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0CE59B2-DB8E-B4AD-5343-9C9C495EE3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354757"/>
              </p:ext>
            </p:extLst>
          </p:nvPr>
        </p:nvGraphicFramePr>
        <p:xfrm>
          <a:off x="872455" y="1049866"/>
          <a:ext cx="10494630" cy="47888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8926">
                  <a:extLst>
                    <a:ext uri="{9D8B030D-6E8A-4147-A177-3AD203B41FA5}">
                      <a16:colId xmlns:a16="http://schemas.microsoft.com/office/drawing/2014/main" val="3003249586"/>
                    </a:ext>
                  </a:extLst>
                </a:gridCol>
                <a:gridCol w="2098926">
                  <a:extLst>
                    <a:ext uri="{9D8B030D-6E8A-4147-A177-3AD203B41FA5}">
                      <a16:colId xmlns:a16="http://schemas.microsoft.com/office/drawing/2014/main" val="740537802"/>
                    </a:ext>
                  </a:extLst>
                </a:gridCol>
                <a:gridCol w="2098926">
                  <a:extLst>
                    <a:ext uri="{9D8B030D-6E8A-4147-A177-3AD203B41FA5}">
                      <a16:colId xmlns:a16="http://schemas.microsoft.com/office/drawing/2014/main" val="3422020369"/>
                    </a:ext>
                  </a:extLst>
                </a:gridCol>
                <a:gridCol w="2098926">
                  <a:extLst>
                    <a:ext uri="{9D8B030D-6E8A-4147-A177-3AD203B41FA5}">
                      <a16:colId xmlns:a16="http://schemas.microsoft.com/office/drawing/2014/main" val="1334715344"/>
                    </a:ext>
                  </a:extLst>
                </a:gridCol>
                <a:gridCol w="2098926">
                  <a:extLst>
                    <a:ext uri="{9D8B030D-6E8A-4147-A177-3AD203B41FA5}">
                      <a16:colId xmlns:a16="http://schemas.microsoft.com/office/drawing/2014/main" val="941865959"/>
                    </a:ext>
                  </a:extLst>
                </a:gridCol>
              </a:tblGrid>
              <a:tr h="344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Activity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Jan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9539848"/>
                  </a:ext>
                </a:extLst>
              </a:tr>
              <a:tr h="481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Problem Identification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████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6999298"/>
                  </a:ext>
                </a:extLst>
              </a:tr>
              <a:tr h="344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Review-1 (CA-01)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███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4969706"/>
                  </a:ext>
                </a:extLst>
              </a:tr>
              <a:tr h="5702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Literature Survey &amp;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████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7734485"/>
                  </a:ext>
                </a:extLst>
              </a:tr>
              <a:tr h="344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Review-2 (CA-02)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2579350"/>
                  </a:ext>
                </a:extLst>
              </a:tr>
              <a:tr h="481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Frontend Development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████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8184641"/>
                  </a:ext>
                </a:extLst>
              </a:tr>
              <a:tr h="344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Review-3 (CA-03)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6710088"/>
                  </a:ext>
                </a:extLst>
              </a:tr>
              <a:tr h="481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Backend &amp; 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████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6176585"/>
                  </a:ext>
                </a:extLst>
              </a:tr>
              <a:tr h="344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Review-4 (CA-04)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0291582"/>
                  </a:ext>
                </a:extLst>
              </a:tr>
              <a:tr h="5702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Testing &amp; Documentation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███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697488"/>
                  </a:ext>
                </a:extLst>
              </a:tr>
              <a:tr h="481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Final Viva (CA-05)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611512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References (IEEE Paper format)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R. Ilamaran, M. Kavin Rajan, and S.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Hareeswar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Crowdsourced Civic Issue Reporting and Resolution System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</a:t>
            </a:r>
            <a:r>
              <a:rPr lang="en-IN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Research Publication and Reviews (IJRPR)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6, no. 11, pp. 8907–8910, Nov. 2025.</a:t>
            </a:r>
          </a:p>
          <a:p>
            <a:pPr>
              <a:lnSpc>
                <a:spcPct val="12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K. Binu, K. Vinay, R. Midhun, V. P. Athul, and T. Shereena, “</a:t>
            </a:r>
            <a:r>
              <a:rPr lang="en-IN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SmartReporter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Crowdsourced Complaint Resolution System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</a:t>
            </a:r>
            <a:r>
              <a:rPr lang="en-IN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Engineering Research &amp; Technology (IJERT)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15, no. 1, Jan. 2026.</a:t>
            </a:r>
          </a:p>
          <a:p>
            <a:pPr>
              <a:lnSpc>
                <a:spcPct val="12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D.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Walwadkar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 Patil, M. Hussain, and S. Yadav, “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Civic Issue Reporting System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</a:t>
            </a:r>
            <a:r>
              <a:rPr lang="en-IN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Advanced Research in Science, Communication and Technology (IJARSCT)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2, no. 1, pp. 248–254, Mar. 2022,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10.48175/IJARSCT-2659.</a:t>
            </a:r>
          </a:p>
          <a:p>
            <a:pPr>
              <a:lnSpc>
                <a:spcPct val="12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S. G. Shukla, T. A. Bhandare, R. V. Bava, and I. S.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Ahirrao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Civic Complaint Registration Application for Citizens of Urban/Rural Areas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</a:t>
            </a:r>
            <a:r>
              <a:rPr lang="en-IN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Emerging Technologies and Innovative Research (JETIR)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11, no. 5, May 2024.</a:t>
            </a:r>
          </a:p>
          <a:p>
            <a:pPr>
              <a:lnSpc>
                <a:spcPct val="12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D. D. Meshram, R. R. Sahu, S. V. Pathak, K. P.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Fukte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P.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Darodkar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G. S.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Ramtekkar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Civic Issue Reporting, Resolution &amp; Waste Recycle Reward System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</a:t>
            </a:r>
            <a:r>
              <a:rPr lang="en-IN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All Research Education and Scientific Methods (IJARESM)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13, no. 11, pp. 1377–1380, Nov. 2025.</a:t>
            </a:r>
          </a:p>
          <a:p>
            <a:pPr>
              <a:lnSpc>
                <a:spcPct val="12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D.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Walwadkar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“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Civic Complaint Reporting Using Image Processing and NLP Techniques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</a:t>
            </a:r>
            <a:r>
              <a:rPr lang="en-IN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Advanced Research in Science, Communication and Technology (IJARSCT)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2, no. 1, Mar. 2022.</a:t>
            </a:r>
          </a:p>
          <a:p>
            <a:pPr>
              <a:lnSpc>
                <a:spcPct val="12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A. Mohanty, P. Das, and S. Rout, “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Crowdsourced Complaint Resolution System Using Geotagging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</a:t>
            </a:r>
            <a:r>
              <a:rPr lang="en-IN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Research Journal of Modernization in Engineering Technology and Science (IRJMETS)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7, no. 4, Apr. 2025.</a:t>
            </a:r>
          </a:p>
          <a:p>
            <a:pPr marL="152400" indent="0">
              <a:spcBef>
                <a:spcPts val="0"/>
              </a:spcBef>
              <a:buNone/>
            </a:pP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26*142"/>
  <p:tag name="TABLE_ENDDRAG_RECT" val="43*214*426*142"/>
</p:tagLst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1488</Words>
  <Application>Microsoft Office PowerPoint</Application>
  <PresentationFormat>Widescreen</PresentationFormat>
  <Paragraphs>233</Paragraphs>
  <Slides>18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Cambria</vt:lpstr>
      <vt:lpstr>Times New Roman</vt:lpstr>
      <vt:lpstr>Verdana</vt:lpstr>
      <vt:lpstr>Wingdings</vt:lpstr>
      <vt:lpstr>Bioinformatics</vt:lpstr>
      <vt:lpstr>Crowdsourced Civic Issue Reporting and Resolution System</vt:lpstr>
      <vt:lpstr>Content</vt:lpstr>
      <vt:lpstr>Problem Statement Number : SIH25031</vt:lpstr>
      <vt:lpstr>ABSTRACT</vt:lpstr>
      <vt:lpstr>LITERATURE SURVEY</vt:lpstr>
      <vt:lpstr>LITERATURE SURVEY</vt:lpstr>
      <vt:lpstr>LITERATURE SURVEY</vt:lpstr>
      <vt:lpstr>LITERATURE SURVEY</vt:lpstr>
      <vt:lpstr>Objectives</vt:lpstr>
      <vt:lpstr>EXISTING METHODS &amp; DRAWBACKS</vt:lpstr>
      <vt:lpstr>PROPOSED METHOD</vt:lpstr>
      <vt:lpstr>FEASIBILITY STUDY</vt:lpstr>
      <vt:lpstr>SYSTEM ARCHITECTURE DIAGRAM</vt:lpstr>
      <vt:lpstr>MODULES</vt:lpstr>
      <vt:lpstr>SOFTWARE DETAILS</vt:lpstr>
      <vt:lpstr>TIMELINE (GANTT CHART) 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JAGADISH T S</cp:lastModifiedBy>
  <cp:revision>56</cp:revision>
  <dcterms:created xsi:type="dcterms:W3CDTF">2025-08-10T19:51:00Z</dcterms:created>
  <dcterms:modified xsi:type="dcterms:W3CDTF">2026-02-04T05:25:02Z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87963BC07B8749C191BD0B06A72519E0_13</vt:lpwstr>
  </property>
  <property fmtid="{D5CDD505-2E9C-101B-9397-08002B2CF9AE}" pid="3" name="KSOProductBuildVer">
    <vt:lpwstr>1033-12.2.0.21931</vt:lpwstr>
  </property>
</Properties>
</file>