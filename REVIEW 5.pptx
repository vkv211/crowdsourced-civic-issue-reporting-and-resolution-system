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8" r:id="rId7"/>
    <p:sldId id="280" r:id="rId8"/>
    <p:sldId id="279" r:id="rId9"/>
    <p:sldId id="287" r:id="rId10"/>
    <p:sldId id="288" r:id="rId11"/>
    <p:sldId id="275" r:id="rId12"/>
    <p:sldId id="281" r:id="rId13"/>
    <p:sldId id="282" r:id="rId14"/>
    <p:sldId id="283" r:id="rId15"/>
    <p:sldId id="284" r:id="rId16"/>
    <p:sldId id="285" r:id="rId17"/>
    <p:sldId id="286" r:id="rId18"/>
    <p:sldId id="270" r:id="rId19"/>
    <p:sldId id="265"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73" autoAdjust="0"/>
  </p:normalViewPr>
  <p:slideViewPr>
    <p:cSldViewPr snapToGrid="0">
      <p:cViewPr varScale="1">
        <p:scale>
          <a:sx n="74" d="100"/>
          <a:sy n="74" d="100"/>
        </p:scale>
        <p:origin x="101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553085" y="1069102"/>
            <a:ext cx="10600584" cy="962898"/>
          </a:xfrm>
          <a:prstGeom prst="rect">
            <a:avLst/>
          </a:prstGeom>
          <a:noFill/>
          <a:ln>
            <a:noFill/>
          </a:ln>
        </p:spPr>
        <p:txBody>
          <a:bodyPr spcFirstLastPara="1" wrap="square" lIns="91425" tIns="45700" rIns="91425" bIns="45700" anchor="ctr" anchorCtr="0">
            <a:noAutofit/>
          </a:bodyPr>
          <a:lstStyle/>
          <a:p>
            <a:pPr lvl="0" algn="ctr"/>
            <a:r>
              <a:rPr lang="en-US" dirty="0">
                <a:latin typeface="Times New Roman" panose="02020603050405020304" pitchFamily="18" charset="0"/>
                <a:cs typeface="Times New Roman" panose="02020603050405020304" pitchFamily="18" charset="0"/>
              </a:rPr>
              <a:t>Crowdsourced Civic Issue Reporting and Resolution System</a:t>
            </a:r>
            <a:endParaRPr lang="en-US" alt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914401" y="2298582"/>
            <a:ext cx="4267198" cy="299069"/>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rgbClr val="17365D"/>
              </a:buClr>
              <a:buSzPts val="2000"/>
              <a:buNone/>
            </a:pPr>
            <a:r>
              <a:rPr lang="en-GB" sz="1800" dirty="0">
                <a:latin typeface="Times New Roman" panose="02020603050405020304" pitchFamily="18" charset="0"/>
                <a:ea typeface="Cambria" panose="02040503050406030204" pitchFamily="18" charset="0"/>
                <a:cs typeface="Times New Roman" panose="02020603050405020304" pitchFamily="18" charset="0"/>
              </a:rPr>
              <a:t>Batch Number:</a:t>
            </a:r>
            <a:r>
              <a:rPr lang="en-US" altLang="en-GB" sz="1800" dirty="0">
                <a:latin typeface="Times New Roman" panose="02020603050405020304" pitchFamily="18" charset="0"/>
                <a:ea typeface="Cambria" panose="02040503050406030204" pitchFamily="18" charset="0"/>
                <a:cs typeface="Times New Roman" panose="02020603050405020304" pitchFamily="18" charset="0"/>
              </a:rPr>
              <a:t> COM_15</a:t>
            </a:r>
            <a:endParaRPr lang="en-US" altLang="en-GB" sz="1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7267357" y="2479855"/>
            <a:ext cx="4661787"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Under the Supervision of,</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a:t>
            </a:r>
            <a:r>
              <a:rPr lang="en-GB" altLang="en-GB"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Ms. Babitha S</a:t>
            </a:r>
            <a:endParaRPr lang="en-GB" alt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School of Computer Science and Engineering</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a:t>
            </a: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Presidency University</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graphicFrame>
        <p:nvGraphicFramePr>
          <p:cNvPr id="89" name="Google Shape;89;p13"/>
          <p:cNvGraphicFramePr/>
          <p:nvPr>
            <p:custDataLst>
              <p:tags r:id="rId1"/>
            </p:custDataLst>
          </p:nvPr>
        </p:nvGraphicFramePr>
        <p:xfrm>
          <a:off x="690389" y="2697898"/>
          <a:ext cx="4661787" cy="2194620"/>
        </p:xfrm>
        <a:graphic>
          <a:graphicData uri="http://schemas.openxmlformats.org/drawingml/2006/table">
            <a:tbl>
              <a:tblPr firstRow="1" bandRow="1">
                <a:noFill/>
                <a:tableStyleId>{57690726-49DA-4552-BDEB-330DD8EA8BD9}</a:tableStyleId>
              </a:tblPr>
              <a:tblGrid>
                <a:gridCol w="2354088"/>
                <a:gridCol w="2307699"/>
              </a:tblGrid>
              <a:tr h="303961">
                <a:tc>
                  <a:txBody>
                    <a:bodyPr/>
                    <a:lstStyle/>
                    <a:p>
                      <a:pPr marL="0" marR="0" lvl="1" indent="0" algn="ctr" rtl="0">
                        <a:spcBef>
                          <a:spcPts val="0"/>
                        </a:spcBef>
                        <a:spcAft>
                          <a:spcPts val="0"/>
                        </a:spcAft>
                        <a:buNone/>
                      </a:pP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3961">
                <a:tc>
                  <a:txBody>
                    <a:bodyPr/>
                    <a:lstStyle/>
                    <a:p>
                      <a:pPr marL="0" marR="0" lvl="0" indent="0" algn="ctr" rtl="0">
                        <a:spcBef>
                          <a:spcPts val="0"/>
                        </a:spcBef>
                        <a:spcAft>
                          <a:spcPts val="0"/>
                        </a:spcAft>
                        <a:buFont typeface="+mj-lt"/>
                        <a:buNone/>
                      </a:pP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3961">
                <a:tc>
                  <a:txBody>
                    <a:bodyPr/>
                    <a:lstStyle/>
                    <a:p>
                      <a:pPr marL="0" marR="0" lvl="0" indent="0" algn="ctr" rtl="0">
                        <a:spcBef>
                          <a:spcPts val="0"/>
                        </a:spcBef>
                        <a:spcAft>
                          <a:spcPts val="0"/>
                        </a:spcAft>
                        <a:buNone/>
                      </a:pP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3961">
                <a:tc>
                  <a:txBody>
                    <a:bodyPr/>
                    <a:lstStyle/>
                    <a:p>
                      <a:pPr marL="0" marR="0" lvl="0" indent="0" algn="ctr" rtl="0">
                        <a:spcBef>
                          <a:spcPts val="0"/>
                        </a:spcBef>
                        <a:spcAft>
                          <a:spcPts val="0"/>
                        </a:spcAft>
                        <a:buNone/>
                      </a:pP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3961">
                <a:tc>
                  <a:txBody>
                    <a:bodyPr/>
                    <a:lstStyle/>
                    <a:p>
                      <a:pPr marL="0" marR="0" lvl="0" indent="0" algn="ctr" rtl="0">
                        <a:spcBef>
                          <a:spcPts val="0"/>
                        </a:spcBef>
                        <a:spcAft>
                          <a:spcPts val="0"/>
                        </a:spcAft>
                        <a:buNone/>
                      </a:pP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3961">
                <a:tc>
                  <a:txBody>
                    <a:bodyPr/>
                    <a:lstStyle/>
                    <a:p>
                      <a:pPr marL="0" marR="0" lvl="0" indent="0" algn="ctr" rtl="0">
                        <a:spcBef>
                          <a:spcPts val="0"/>
                        </a:spcBef>
                        <a:spcAft>
                          <a:spcPts val="0"/>
                        </a:spcAft>
                        <a:buNone/>
                      </a:pP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11677" y="168334"/>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CSE7302 – University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Review-</a:t>
            </a:r>
            <a:r>
              <a:rPr lang="en-US" alt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5</a:t>
            </a:r>
            <a:endParaRPr lang="en-US" alt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sp>
        <p:nvSpPr>
          <p:cNvPr id="8" name="Google Shape;91;p13"/>
          <p:cNvSpPr txBox="1"/>
          <p:nvPr/>
        </p:nvSpPr>
        <p:spPr>
          <a:xfrm>
            <a:off x="690389" y="4600661"/>
            <a:ext cx="12240937" cy="1657526"/>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 CSE</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Dr.Gopalkirshna</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Shyam</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Ms.Sumita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Guddin</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Dr.Samapth</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&amp;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Dr.Geetha</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Arjunan</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2" name="Table 1"/>
          <p:cNvGraphicFramePr>
            <a:graphicFrameLocks noGrp="1"/>
          </p:cNvGraphicFramePr>
          <p:nvPr/>
        </p:nvGraphicFramePr>
        <p:xfrm>
          <a:off x="690389" y="2864233"/>
          <a:ext cx="5559410" cy="1464488"/>
        </p:xfrm>
        <a:graphic>
          <a:graphicData uri="http://schemas.openxmlformats.org/drawingml/2006/table">
            <a:tbl>
              <a:tblPr firstRow="1" bandRow="1">
                <a:tableStyleId>{5C22544A-7EE6-4342-B048-85BDC9FD1C3A}</a:tableStyleId>
              </a:tblPr>
              <a:tblGrid>
                <a:gridCol w="2779705"/>
                <a:gridCol w="2779705"/>
              </a:tblGrid>
              <a:tr h="366122">
                <a:tc>
                  <a:txBody>
                    <a:bodyPr/>
                    <a:lstStyle/>
                    <a:p>
                      <a:pPr marL="0" marR="0" lvl="1" indent="0" algn="ctr" rtl="0">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Roll Number</a:t>
                      </a: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ctr" rtl="0">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Student Name</a:t>
                      </a: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tc>
              </a:tr>
              <a:tr h="366122">
                <a:tc>
                  <a:txBody>
                    <a:bodyPr/>
                    <a:lstStyle/>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20221COM0084                   </a:t>
                      </a: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sym typeface="+mn-ea"/>
                        </a:rPr>
                        <a:t>VISHNU M</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tc>
              </a:tr>
              <a:tr h="366122">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20221COM0096</a:t>
                      </a: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R AKASH</a:t>
                      </a: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tc>
              </a:tr>
              <a:tr h="366122">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20221COM0099</a:t>
                      </a: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JAGADISH T S</a:t>
                      </a:r>
                      <a:endParaRPr lang="en-US"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75354" y="762138"/>
            <a:ext cx="11044718" cy="5319880"/>
          </a:xfrm>
          <a:prstGeom prst="rect">
            <a:avLst/>
          </a:prstGeom>
          <a:noFill/>
          <a:ln>
            <a:noFill/>
          </a:ln>
        </p:spPr>
        <p:txBody>
          <a:bodyPr spcFirstLastPara="1" wrap="square" lIns="91425" tIns="45700" rIns="91425" bIns="45700" anchor="t" anchorCtr="0">
            <a:normAutofit fontScale="25000" lnSpcReduction="20000"/>
          </a:bodyPr>
          <a:lstStyle/>
          <a:p>
            <a:pPr marL="495300" indent="-342900" algn="just">
              <a:lnSpc>
                <a:spcPct val="200000"/>
              </a:lnSpc>
              <a:spcBef>
                <a:spcPts val="0"/>
              </a:spcBef>
              <a:buFont typeface="Arial" panose="020B0604020202020204" pitchFamily="34" charset="0"/>
              <a:buChar char="•"/>
            </a:pPr>
            <a:r>
              <a:rPr lang="en-US" sz="6400" b="1" dirty="0">
                <a:latin typeface="Times New Roman" panose="02020603050405020304" pitchFamily="18" charset="0"/>
                <a:ea typeface="Cambria" panose="02040503050406030204" pitchFamily="18" charset="0"/>
                <a:cs typeface="Times New Roman" panose="02020603050405020304" pitchFamily="18" charset="0"/>
              </a:rPr>
              <a:t>Problem Statement</a:t>
            </a:r>
            <a:endParaRPr lang="en-US" sz="6400" b="1"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Abstract</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Literature Survey</a:t>
            </a:r>
            <a:endParaRPr lang="en-US" sz="6400" b="1"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Objectives</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Existing Methods and Drawbacks</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Proposed Method &amp; Feasibility Study</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Architecture Diagram</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Modules</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 Software Details </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Timeline (Gantt Chart) </a:t>
            </a:r>
            <a:endParaRPr lang="en-IN" sz="6400" b="1" dirty="0">
              <a:latin typeface="Times New Roman" panose="020206030504050203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6400" b="1" dirty="0">
                <a:latin typeface="Times New Roman" panose="02020603050405020304" pitchFamily="18" charset="0"/>
                <a:cs typeface="Times New Roman" panose="02020603050405020304" pitchFamily="18" charset="0"/>
              </a:rPr>
              <a:t>References </a:t>
            </a:r>
            <a:endParaRPr lang="en-US" sz="6400" b="1"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72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72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3732" y="274638"/>
            <a:ext cx="10667068"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a:t>
            </a:r>
            <a:r>
              <a:rPr lang="en-US" altLang="en-GB" dirty="0">
                <a:latin typeface="Times New Roman" panose="02020603050405020304" pitchFamily="18" charset="0"/>
                <a:ea typeface="Cambria" panose="02040503050406030204" pitchFamily="18" charset="0"/>
                <a:cs typeface="Times New Roman" panose="02020603050405020304" pitchFamily="18" charset="0"/>
              </a:rPr>
              <a:t> </a:t>
            </a:r>
            <a:r>
              <a:rPr lang="en-GB" dirty="0">
                <a:latin typeface="Times New Roman" panose="02020603050405020304" pitchFamily="18" charset="0"/>
                <a:ea typeface="Cambria" panose="020405030504060302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SIH25031</a:t>
            </a:r>
            <a:endParaRPr lang="en-US" altLang="en-GB"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645952" y="989901"/>
            <a:ext cx="10834848" cy="5106099"/>
          </a:xfrm>
          <a:prstGeom prst="rect">
            <a:avLst/>
          </a:prstGeom>
          <a:noFill/>
          <a:ln>
            <a:noFill/>
          </a:ln>
        </p:spPr>
        <p:txBody>
          <a:bodyPr spcFirstLastPara="1" wrap="square" lIns="91425" tIns="45700" rIns="91425" bIns="45700" anchor="t" anchorCtr="0">
            <a:normAutofit fontScale="97500"/>
          </a:bodyPr>
          <a:lstStyle/>
          <a:p>
            <a:pPr marL="342900" lvl="0" indent="-190500" algn="just">
              <a:lnSpc>
                <a:spcPct val="150000"/>
              </a:lnSpc>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Problem Description:</a:t>
            </a:r>
            <a:endParaRPr lang="en-US"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150000"/>
              </a:lnSpc>
              <a:spcBef>
                <a:spcPts val="0"/>
              </a:spcBef>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Citizens frequently encounter civic issues such as potholes, garbage overflow,</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150000"/>
              </a:lnSpc>
              <a:spcBef>
                <a:spcPts val="0"/>
              </a:spcBef>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water leakage, broken streetlights, and sanitation problems. </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150000"/>
              </a:lnSpc>
              <a:spcBef>
                <a:spcPts val="0"/>
              </a:spcBef>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Existing complaint mechanisms are fragmented, manual, or lack transparency</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150000"/>
              </a:lnSpc>
              <a:spcBef>
                <a:spcPts val="0"/>
              </a:spcBef>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and real-time tracking. This results in delayed resolution and poor accountability. </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150000"/>
              </a:lnSpc>
              <a:spcBef>
                <a:spcPts val="0"/>
              </a:spcBef>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There is a need for a centralized, crowdsourced digital platform that allows citizens</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150000"/>
              </a:lnSpc>
              <a:spcBef>
                <a:spcPts val="0"/>
              </a:spcBef>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to report civic issues and enables authorities to efficiently monitor and resolve them.</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04675" y="956345"/>
            <a:ext cx="10776125" cy="5139656"/>
          </a:xfrm>
        </p:spPr>
        <p:txBody>
          <a:bodyPr>
            <a:normAutofit fontScale="85000" lnSpcReduction="10000"/>
          </a:bodyPr>
          <a:lstStyle/>
          <a:p>
            <a:pPr marL="76200" indent="0">
              <a:buNone/>
            </a:pPr>
            <a:r>
              <a:rPr lang="en-US" dirty="0">
                <a:latin typeface="Times New Roman" panose="02020603050405020304" pitchFamily="18" charset="0"/>
                <a:cs typeface="Times New Roman" panose="02020603050405020304" pitchFamily="18" charset="0"/>
              </a:rPr>
              <a:t>The rapid growth of urban populations has created increasing pressure on city infrastructure, resulting in frequent civic issues such as damaged roads, electrical failures, water pipe leakages, and waste management problems. Existing complaint mechanisms lack transparency, accountability, and real-time feedback.</a:t>
            </a:r>
            <a:endParaRPr lang="en-US" dirty="0">
              <a:latin typeface="Times New Roman" panose="02020603050405020304" pitchFamily="18" charset="0"/>
              <a:cs typeface="Times New Roman" panose="02020603050405020304" pitchFamily="18" charset="0"/>
            </a:endParaRPr>
          </a:p>
          <a:p>
            <a:pPr marL="76200" indent="0">
              <a:buNone/>
            </a:pPr>
            <a:r>
              <a:rPr lang="en-US" dirty="0">
                <a:latin typeface="Times New Roman" panose="02020603050405020304" pitchFamily="18" charset="0"/>
                <a:cs typeface="Times New Roman" panose="02020603050405020304" pitchFamily="18" charset="0"/>
              </a:rPr>
              <a:t>This project presents a full-stack civic issue management system consisting of:</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Flutter mobile application for citizens to submit geo-tagged, photo-evidenced complaints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React.js web portal for government administrators with AI-powered priority detection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department portal for field staff to update work status and upload resolution proof</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 </a:t>
            </a:r>
            <a:r>
              <a:rPr lang="en-US" dirty="0" err="1">
                <a:latin typeface="Times New Roman" panose="02020603050405020304" pitchFamily="18" charset="0"/>
                <a:cs typeface="Times New Roman" panose="02020603050405020304" pitchFamily="18" charset="0"/>
              </a:rPr>
              <a:t>Appwrite</a:t>
            </a:r>
            <a:r>
              <a:rPr lang="en-US" dirty="0">
                <a:latin typeface="Times New Roman" panose="02020603050405020304" pitchFamily="18" charset="0"/>
                <a:cs typeface="Times New Roman" panose="02020603050405020304" pitchFamily="18" charset="0"/>
              </a:rPr>
              <a:t> BaaS backend eliminating the need for custom server infrastructure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gamification system awarding points to encourage genuine citizen participation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proof-based resolution system where departments upload after-work photos visible to citizens</a:t>
            </a:r>
            <a:endParaRPr lang="en-US" dirty="0">
              <a:latin typeface="Times New Roman" panose="02020603050405020304" pitchFamily="18" charset="0"/>
              <a:cs typeface="Times New Roman" panose="02020603050405020304" pitchFamily="18" charset="0"/>
            </a:endParaRPr>
          </a:p>
          <a:p>
            <a:pPr marL="76200" indent="0">
              <a:buNone/>
            </a:pPr>
            <a:r>
              <a:rPr lang="en-US" dirty="0">
                <a:latin typeface="Times New Roman" panose="02020603050405020304" pitchFamily="18" charset="0"/>
                <a:cs typeface="Times New Roman" panose="02020603050405020304" pitchFamily="18" charset="0"/>
              </a:rPr>
              <a:t>The AI priority engine analyses four factors — keyword severity, time of submission, nearby critical facilities via Google Maps Places API, and road classification via Google Maps Geocoding API — to automatically classify each report as High, Medium, or Low priority without requiring a machine learning server.</a:t>
            </a:r>
            <a:endParaRPr lang="en-US" dirty="0">
              <a:latin typeface="Times New Roman" panose="02020603050405020304" pitchFamily="18" charset="0"/>
              <a:cs typeface="Times New Roman" panose="02020603050405020304" pitchFamily="18" charset="0"/>
            </a:endParaRPr>
          </a:p>
          <a:p>
            <a:pPr marL="76200" indent="0">
              <a:lnSpc>
                <a:spcPct val="150000"/>
              </a:lnSpc>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Tahoma" panose="020B0604030504040204" pitchFamily="34" charset="0"/>
                <a:cs typeface="Times New Roman" panose="02020603050405020304" pitchFamily="18" charset="0"/>
              </a:rPr>
              <a:t>LITERATURE SURVEY</a:t>
            </a:r>
            <a:endParaRPr lang="en-IN"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p:cNvSpPr>
            <a:spLocks noGrp="1"/>
          </p:cNvSpPr>
          <p:nvPr>
            <p:ph type="body" idx="1"/>
          </p:nvPr>
        </p:nvSpPr>
        <p:spPr>
          <a:xfrm>
            <a:off x="812800" y="939567"/>
            <a:ext cx="10668000" cy="5156434"/>
          </a:xfrm>
        </p:spPr>
        <p:txBody>
          <a:bodyPr>
            <a:normAutofit fontScale="25000" lnSpcReduction="20000"/>
          </a:bodyPr>
          <a:lstStyle/>
          <a:p>
            <a:pPr marL="76200" indent="0">
              <a:buNone/>
            </a:pPr>
            <a:r>
              <a:rPr lang="en-IN" sz="6400" b="1" dirty="0">
                <a:latin typeface="Times New Roman" panose="02020603050405020304" pitchFamily="18" charset="0"/>
                <a:cs typeface="Times New Roman" panose="02020603050405020304" pitchFamily="18" charset="0"/>
              </a:rPr>
              <a:t>Literature Survey Summary :</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a:p>
            <a:pPr marL="76200" indent="0">
              <a:buNone/>
            </a:pPr>
            <a:r>
              <a:rPr lang="en-IN" sz="4400" b="1" dirty="0"/>
              <a:t>1) Ilamaran et al. (2025) – Crowdsourced Civic Issue Reporting and Resolution System</a:t>
            </a:r>
            <a:endParaRPr lang="en-IN" sz="4400" b="1" dirty="0"/>
          </a:p>
          <a:p>
            <a:pPr marL="76200" indent="0">
              <a:buNone/>
            </a:pPr>
            <a:r>
              <a:rPr lang="en-IN" sz="4400" i="1" dirty="0"/>
              <a:t>(IJRPR – </a:t>
            </a:r>
            <a:r>
              <a:rPr lang="en-IN" sz="4400" b="1" i="1" dirty="0"/>
              <a:t>BASE PAPER</a:t>
            </a:r>
            <a:r>
              <a:rPr lang="en-IN" sz="4400" i="1" dirty="0"/>
              <a:t>)</a:t>
            </a:r>
            <a:endParaRPr lang="en-IN" sz="4400" dirty="0"/>
          </a:p>
          <a:p>
            <a:r>
              <a:rPr lang="en-IN" sz="4400" dirty="0"/>
              <a:t>Proposes a </a:t>
            </a:r>
            <a:r>
              <a:rPr lang="en-IN" sz="4400" b="1" dirty="0"/>
              <a:t>cloud-based, crowdsourced platform</a:t>
            </a:r>
            <a:r>
              <a:rPr lang="en-IN" sz="4400" dirty="0"/>
              <a:t> for reporting civic issues</a:t>
            </a:r>
            <a:endParaRPr lang="en-IN" sz="4400" dirty="0"/>
          </a:p>
          <a:p>
            <a:r>
              <a:rPr lang="en-IN" sz="4400" dirty="0"/>
              <a:t>Citizens upload </a:t>
            </a:r>
            <a:r>
              <a:rPr lang="en-IN" sz="4400" b="1" dirty="0"/>
              <a:t>images, descriptions, and geotagged locations</a:t>
            </a:r>
            <a:endParaRPr lang="en-IN" sz="4400" dirty="0"/>
          </a:p>
          <a:p>
            <a:r>
              <a:rPr lang="en-IN" sz="4400" dirty="0"/>
              <a:t>Uses </a:t>
            </a:r>
            <a:r>
              <a:rPr lang="en-IN" sz="4400" b="1" dirty="0"/>
              <a:t>machine learning</a:t>
            </a:r>
            <a:r>
              <a:rPr lang="en-IN" sz="4400" dirty="0"/>
              <a:t> for issue categorization, duplicate detection, and prioritization</a:t>
            </a:r>
            <a:endParaRPr lang="en-IN" sz="4400" dirty="0"/>
          </a:p>
          <a:p>
            <a:r>
              <a:rPr lang="en-IN" sz="4400" dirty="0"/>
              <a:t>Provides </a:t>
            </a:r>
            <a:r>
              <a:rPr lang="en-IN" sz="4400" b="1" dirty="0"/>
              <a:t>real-time tracking</a:t>
            </a:r>
            <a:r>
              <a:rPr lang="en-IN" sz="4400" dirty="0"/>
              <a:t> and a </a:t>
            </a:r>
            <a:r>
              <a:rPr lang="en-IN" sz="4400" b="1" dirty="0"/>
              <a:t>centralized dashboard</a:t>
            </a:r>
            <a:r>
              <a:rPr lang="en-IN" sz="4400" dirty="0"/>
              <a:t> for authorities</a:t>
            </a:r>
            <a:endParaRPr lang="en-IN" sz="4400" dirty="0"/>
          </a:p>
          <a:p>
            <a:pPr marL="76200" indent="0">
              <a:buNone/>
            </a:pPr>
            <a:r>
              <a:rPr lang="en-IN" sz="4400" b="1" dirty="0"/>
              <a:t>Limitation:</a:t>
            </a:r>
            <a:endParaRPr lang="en-IN" sz="4400" dirty="0"/>
          </a:p>
          <a:p>
            <a:r>
              <a:rPr lang="en-IN" sz="4400" dirty="0"/>
              <a:t>High system complexity</a:t>
            </a:r>
            <a:endParaRPr lang="en-IN" sz="4400" dirty="0"/>
          </a:p>
          <a:p>
            <a:r>
              <a:rPr lang="en-IN" sz="4400" dirty="0"/>
              <a:t>Heavy ML dependence increases computational cost</a:t>
            </a:r>
            <a:endParaRPr lang="en-IN" sz="4400" dirty="0"/>
          </a:p>
          <a:p>
            <a:r>
              <a:rPr lang="en-IN" sz="4400" dirty="0"/>
              <a:t>Not optimized for </a:t>
            </a:r>
            <a:r>
              <a:rPr lang="en-IN" sz="4400" b="1" dirty="0"/>
              <a:t>serverless / free-tier cloud deployment</a:t>
            </a:r>
            <a:endParaRPr lang="en-IN" sz="4400" dirty="0"/>
          </a:p>
          <a:p>
            <a:br>
              <a:rPr lang="en-IN" sz="4400" dirty="0"/>
            </a:br>
            <a:endParaRPr lang="en-IN" sz="4400" dirty="0"/>
          </a:p>
          <a:p>
            <a:pPr marL="76200" indent="0">
              <a:buNone/>
            </a:pPr>
            <a:r>
              <a:rPr lang="en-IN" sz="4400" b="1" dirty="0"/>
              <a:t>2) Kurian et al. (2026) – </a:t>
            </a:r>
            <a:r>
              <a:rPr lang="en-IN" sz="4400" b="1" dirty="0" err="1"/>
              <a:t>SmartReporter</a:t>
            </a:r>
            <a:r>
              <a:rPr lang="en-IN" sz="4400" b="1" dirty="0"/>
              <a:t>: A Crowdsourced Complaint Resolution System</a:t>
            </a:r>
            <a:endParaRPr lang="en-IN" sz="4400" b="1" dirty="0"/>
          </a:p>
          <a:p>
            <a:pPr marL="76200" indent="0">
              <a:buNone/>
            </a:pPr>
            <a:r>
              <a:rPr lang="en-IN" sz="4400" i="1" dirty="0"/>
              <a:t>(IJERT)</a:t>
            </a:r>
            <a:endParaRPr lang="en-IN" sz="4400" dirty="0"/>
          </a:p>
          <a:p>
            <a:r>
              <a:rPr lang="en-IN" sz="4400" dirty="0"/>
              <a:t>Web-based civic issue reporting platform</a:t>
            </a:r>
            <a:endParaRPr lang="en-IN" sz="4400" dirty="0"/>
          </a:p>
          <a:p>
            <a:r>
              <a:rPr lang="en-IN" sz="4400" dirty="0"/>
              <a:t>Uses </a:t>
            </a:r>
            <a:r>
              <a:rPr lang="en-IN" sz="4400" b="1" dirty="0"/>
              <a:t>YOLOv8 / YOLOv9 deep learning models</a:t>
            </a:r>
            <a:r>
              <a:rPr lang="en-IN" sz="4400" dirty="0"/>
              <a:t> for image-based issue detection</a:t>
            </a:r>
            <a:endParaRPr lang="en-IN" sz="4400" dirty="0"/>
          </a:p>
          <a:p>
            <a:r>
              <a:rPr lang="en-IN" sz="4400" dirty="0"/>
              <a:t>Automatically classifies potholes, garbage, streetlight faults</a:t>
            </a:r>
            <a:endParaRPr lang="en-IN" sz="4400" dirty="0"/>
          </a:p>
          <a:p>
            <a:r>
              <a:rPr lang="en-IN" sz="4400" dirty="0"/>
              <a:t>Provides </a:t>
            </a:r>
            <a:r>
              <a:rPr lang="en-IN" sz="4400" b="1" dirty="0"/>
              <a:t>real-time dashboards and analytics</a:t>
            </a:r>
            <a:endParaRPr lang="en-IN" sz="4400" dirty="0"/>
          </a:p>
          <a:p>
            <a:pPr marL="76200" indent="0">
              <a:buNone/>
            </a:pPr>
            <a:r>
              <a:rPr lang="en-IN" sz="4400" b="1" dirty="0"/>
              <a:t>Limitation:</a:t>
            </a:r>
            <a:endParaRPr lang="en-IN" sz="4400" dirty="0"/>
          </a:p>
          <a:p>
            <a:r>
              <a:rPr lang="en-IN" sz="4400" dirty="0"/>
              <a:t>Requires </a:t>
            </a:r>
            <a:r>
              <a:rPr lang="en-IN" sz="4400" b="1" dirty="0"/>
              <a:t>GPU resources</a:t>
            </a:r>
            <a:endParaRPr lang="en-IN" sz="4400" dirty="0"/>
          </a:p>
          <a:p>
            <a:r>
              <a:rPr lang="en-IN" sz="4400" dirty="0"/>
              <a:t>High inference cost</a:t>
            </a:r>
            <a:endParaRPr lang="en-IN" sz="4400" dirty="0"/>
          </a:p>
          <a:p>
            <a:r>
              <a:rPr lang="en-IN" sz="4400" dirty="0"/>
              <a:t>Not feasible for </a:t>
            </a:r>
            <a:r>
              <a:rPr lang="en-IN" sz="4400" b="1" dirty="0"/>
              <a:t>student-level or free-cloud deployment</a:t>
            </a:r>
            <a:endParaRPr lang="en-IN" sz="4400" dirty="0"/>
          </a:p>
          <a:p>
            <a:br>
              <a:rPr lang="en-IN" dirty="0"/>
            </a:br>
            <a:endParaRPr lang="en-IN" dirty="0"/>
          </a:p>
          <a:p>
            <a:pPr marL="76200" indent="0">
              <a:buNone/>
            </a:pP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1040235"/>
            <a:ext cx="10668000" cy="5055766"/>
          </a:xfrm>
        </p:spPr>
        <p:txBody>
          <a:bodyPr>
            <a:normAutofit fontScale="55000" lnSpcReduction="20000"/>
          </a:bodyPr>
          <a:lstStyle/>
          <a:p>
            <a:pPr marL="76200" indent="0">
              <a:buNone/>
            </a:pPr>
            <a:r>
              <a:rPr lang="en-IN" b="1" dirty="0">
                <a:latin typeface="Times New Roman" panose="02020603050405020304" pitchFamily="18" charset="0"/>
                <a:cs typeface="Times New Roman" panose="02020603050405020304" pitchFamily="18" charset="0"/>
              </a:rPr>
              <a:t>3) </a:t>
            </a:r>
            <a:r>
              <a:rPr lang="en-IN" b="1" dirty="0" err="1">
                <a:latin typeface="Times New Roman" panose="02020603050405020304" pitchFamily="18" charset="0"/>
                <a:cs typeface="Times New Roman" panose="02020603050405020304" pitchFamily="18" charset="0"/>
              </a:rPr>
              <a:t>Walwadkar</a:t>
            </a:r>
            <a:r>
              <a:rPr lang="en-IN" b="1" dirty="0">
                <a:latin typeface="Times New Roman" panose="02020603050405020304" pitchFamily="18" charset="0"/>
                <a:cs typeface="Times New Roman" panose="02020603050405020304" pitchFamily="18" charset="0"/>
              </a:rPr>
              <a:t> et al. (2022) – Smart Civic Issue Reporting System</a:t>
            </a:r>
            <a:endParaRPr lang="en-IN" b="1" dirty="0">
              <a:latin typeface="Times New Roman" panose="02020603050405020304" pitchFamily="18" charset="0"/>
              <a:cs typeface="Times New Roman" panose="02020603050405020304" pitchFamily="18" charset="0"/>
            </a:endParaRPr>
          </a:p>
          <a:p>
            <a:pPr marL="76200" indent="0">
              <a:buNone/>
            </a:pPr>
            <a:r>
              <a:rPr lang="en-IN" i="1" dirty="0">
                <a:latin typeface="Times New Roman" panose="02020603050405020304" pitchFamily="18" charset="0"/>
                <a:cs typeface="Times New Roman" panose="02020603050405020304" pitchFamily="18" charset="0"/>
              </a:rPr>
              <a:t>(IJARSCT)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Android-based complaint reporting system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Uses </a:t>
            </a:r>
            <a:r>
              <a:rPr lang="en-IN" b="1" dirty="0">
                <a:latin typeface="Times New Roman" panose="02020603050405020304" pitchFamily="18" charset="0"/>
                <a:cs typeface="Times New Roman" panose="02020603050405020304" pitchFamily="18" charset="0"/>
              </a:rPr>
              <a:t>CNN + RNN hybrid model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Applies </a:t>
            </a:r>
            <a:r>
              <a:rPr lang="en-IN" b="1" dirty="0">
                <a:latin typeface="Times New Roman" panose="02020603050405020304" pitchFamily="18" charset="0"/>
                <a:cs typeface="Times New Roman" panose="02020603050405020304" pitchFamily="18" charset="0"/>
              </a:rPr>
              <a:t>NLP (SVM)</a:t>
            </a:r>
            <a:r>
              <a:rPr lang="en-IN" dirty="0">
                <a:latin typeface="Times New Roman" panose="02020603050405020304" pitchFamily="18" charset="0"/>
                <a:cs typeface="Times New Roman" panose="02020603050405020304" pitchFamily="18" charset="0"/>
              </a:rPr>
              <a:t> to detect complaint severity</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Uses GPS and camera for evidence collection</a:t>
            </a:r>
            <a:endParaRPr lang="en-IN" dirty="0">
              <a:latin typeface="Times New Roman" panose="02020603050405020304" pitchFamily="18" charset="0"/>
              <a:cs typeface="Times New Roman" panose="02020603050405020304" pitchFamily="18" charset="0"/>
            </a:endParaRPr>
          </a:p>
          <a:p>
            <a:pPr marL="76200" indent="0">
              <a:buNone/>
            </a:pPr>
            <a:r>
              <a:rPr lang="en-IN" b="1" dirty="0">
                <a:latin typeface="Times New Roman" panose="02020603050405020304" pitchFamily="18" charset="0"/>
                <a:cs typeface="Times New Roman" panose="02020603050405020304" pitchFamily="18" charset="0"/>
              </a:rPr>
              <a:t>Limitation: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Over-engineered ML architecture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Requires large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datasets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Android-only; not web or cloud-native</a:t>
            </a:r>
            <a:endParaRPr lang="en-IN" dirty="0">
              <a:latin typeface="Times New Roman" panose="02020603050405020304" pitchFamily="18" charset="0"/>
              <a:cs typeface="Times New Roman" panose="02020603050405020304" pitchFamily="18" charset="0"/>
            </a:endParaRPr>
          </a:p>
          <a:p>
            <a:pPr marL="76200" indent="0">
              <a:buNone/>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76200" indent="0">
              <a:buNone/>
            </a:pPr>
            <a:r>
              <a:rPr lang="en-IN" b="1" dirty="0">
                <a:latin typeface="Times New Roman" panose="02020603050405020304" pitchFamily="18" charset="0"/>
                <a:cs typeface="Times New Roman" panose="02020603050405020304" pitchFamily="18" charset="0"/>
              </a:rPr>
              <a:t>4) Shukla et al. (2024) – Civic Complaint Registration Application for Urban/Rural Areas</a:t>
            </a:r>
            <a:endParaRPr lang="en-IN" b="1" dirty="0">
              <a:latin typeface="Times New Roman" panose="02020603050405020304" pitchFamily="18" charset="0"/>
              <a:cs typeface="Times New Roman" panose="02020603050405020304" pitchFamily="18" charset="0"/>
            </a:endParaRPr>
          </a:p>
          <a:p>
            <a:pPr marL="76200" indent="0">
              <a:buNone/>
            </a:pPr>
            <a:r>
              <a:rPr lang="en-IN" i="1" dirty="0">
                <a:latin typeface="Times New Roman" panose="02020603050405020304" pitchFamily="18" charset="0"/>
                <a:cs typeface="Times New Roman" panose="02020603050405020304" pitchFamily="18" charset="0"/>
              </a:rPr>
              <a:t>(JETIR)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Android application for civic complaint registration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Uses </a:t>
            </a:r>
            <a:r>
              <a:rPr lang="en-IN" b="1" dirty="0">
                <a:latin typeface="Times New Roman" panose="02020603050405020304" pitchFamily="18" charset="0"/>
                <a:cs typeface="Times New Roman" panose="02020603050405020304" pitchFamily="18" charset="0"/>
              </a:rPr>
              <a:t>image processing (Faster R-CNN)</a:t>
            </a:r>
            <a:r>
              <a:rPr lang="en-IN" dirty="0">
                <a:latin typeface="Times New Roman" panose="02020603050405020304" pitchFamily="18" charset="0"/>
                <a:cs typeface="Times New Roman" panose="02020603050405020304" pitchFamily="18" charset="0"/>
              </a:rPr>
              <a:t> for issue categorization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Integrates </a:t>
            </a:r>
            <a:r>
              <a:rPr lang="en-IN" b="1" dirty="0">
                <a:latin typeface="Times New Roman" panose="02020603050405020304" pitchFamily="18" charset="0"/>
                <a:cs typeface="Times New Roman" panose="02020603050405020304" pitchFamily="18" charset="0"/>
              </a:rPr>
              <a:t>Google Maps API</a:t>
            </a:r>
            <a:r>
              <a:rPr lang="en-IN" dirty="0">
                <a:latin typeface="Times New Roman" panose="02020603050405020304" pitchFamily="18" charset="0"/>
                <a:cs typeface="Times New Roman" panose="02020603050405020304" pitchFamily="18" charset="0"/>
              </a:rPr>
              <a:t> for geolocation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Provides admin and user dashboards</a:t>
            </a:r>
            <a:endParaRPr lang="en-IN" dirty="0">
              <a:latin typeface="Times New Roman" panose="02020603050405020304" pitchFamily="18" charset="0"/>
              <a:cs typeface="Times New Roman" panose="02020603050405020304" pitchFamily="18" charset="0"/>
            </a:endParaRPr>
          </a:p>
          <a:p>
            <a:pPr marL="76200" indent="0">
              <a:buNone/>
            </a:pPr>
            <a:r>
              <a:rPr lang="en-IN" b="1" dirty="0">
                <a:latin typeface="Times New Roman" panose="02020603050405020304" pitchFamily="18" charset="0"/>
                <a:cs typeface="Times New Roman" panose="02020603050405020304" pitchFamily="18" charset="0"/>
              </a:rPr>
              <a:t>Limitation: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Mobile-only system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High image-processing overhead</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Limited scalability discussion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fontScale="32500" lnSpcReduction="20000"/>
          </a:bodyPr>
          <a:lstStyle/>
          <a:p>
            <a:pPr marL="76200" indent="0">
              <a:buNone/>
            </a:pPr>
            <a:r>
              <a:rPr lang="en-IN" sz="3700" b="1" dirty="0"/>
              <a:t>5) Meshram et al. (2025) – Smart Civic Issue Reporting, Resolution &amp; Waste Recycle Reward System</a:t>
            </a:r>
            <a:endParaRPr lang="en-IN" sz="3700" b="1" dirty="0"/>
          </a:p>
          <a:p>
            <a:pPr marL="76200" indent="0">
              <a:buNone/>
            </a:pPr>
            <a:r>
              <a:rPr lang="en-IN" sz="3700" i="1" dirty="0"/>
              <a:t>(IJARESM)</a:t>
            </a:r>
            <a:endParaRPr lang="en-IN" sz="3700" dirty="0"/>
          </a:p>
          <a:p>
            <a:r>
              <a:rPr lang="en-IN" sz="3700" dirty="0"/>
              <a:t>Full-stack web-based civic issue platform</a:t>
            </a:r>
            <a:endParaRPr lang="en-IN" sz="3700" dirty="0"/>
          </a:p>
          <a:p>
            <a:r>
              <a:rPr lang="en-IN" sz="3700" dirty="0"/>
              <a:t>Adds </a:t>
            </a:r>
            <a:r>
              <a:rPr lang="en-IN" sz="3700" b="1" dirty="0"/>
              <a:t>AI-generated descriptions</a:t>
            </a:r>
            <a:endParaRPr lang="en-IN" sz="3700" dirty="0"/>
          </a:p>
          <a:p>
            <a:r>
              <a:rPr lang="en-IN" sz="3700" dirty="0"/>
              <a:t>Introduces </a:t>
            </a:r>
            <a:r>
              <a:rPr lang="en-IN" sz="3700" b="1" dirty="0"/>
              <a:t>waste recycling and reward-based gamification</a:t>
            </a:r>
            <a:endParaRPr lang="en-IN" sz="3700" dirty="0"/>
          </a:p>
          <a:p>
            <a:r>
              <a:rPr lang="en-IN" sz="3700" dirty="0"/>
              <a:t>Encourages citizen participation using points and leaderboards</a:t>
            </a:r>
            <a:endParaRPr lang="en-IN" sz="3700" dirty="0"/>
          </a:p>
          <a:p>
            <a:pPr marL="76200" indent="0">
              <a:buNone/>
            </a:pPr>
            <a:r>
              <a:rPr lang="en-IN" sz="3700" b="1" dirty="0"/>
              <a:t>Limitation:</a:t>
            </a:r>
            <a:endParaRPr lang="en-IN" sz="3700" dirty="0"/>
          </a:p>
          <a:p>
            <a:r>
              <a:rPr lang="en-IN" sz="3700" dirty="0"/>
              <a:t>Very broad scope</a:t>
            </a:r>
            <a:endParaRPr lang="en-IN" sz="3700" dirty="0"/>
          </a:p>
          <a:p>
            <a:r>
              <a:rPr lang="en-IN" sz="3700" dirty="0"/>
              <a:t>Increased system complexity</a:t>
            </a:r>
            <a:endParaRPr lang="en-IN" sz="3700" dirty="0"/>
          </a:p>
          <a:p>
            <a:r>
              <a:rPr lang="en-IN" sz="3700" dirty="0"/>
              <a:t>Reward focus diverts attention from core resolution workflow</a:t>
            </a:r>
            <a:endParaRPr lang="en-IN" sz="3700" dirty="0"/>
          </a:p>
          <a:p>
            <a:pPr marL="76200" indent="0">
              <a:buNone/>
            </a:pPr>
            <a:br>
              <a:rPr lang="en-IN" sz="3700" dirty="0"/>
            </a:br>
            <a:endParaRPr lang="en-IN" sz="3700" dirty="0"/>
          </a:p>
          <a:p>
            <a:pPr marL="76200" indent="0">
              <a:buNone/>
            </a:pPr>
            <a:r>
              <a:rPr lang="en-IN" sz="3700" b="1" dirty="0"/>
              <a:t>6) </a:t>
            </a:r>
            <a:r>
              <a:rPr lang="en-IN" sz="3700" b="1" dirty="0" err="1"/>
              <a:t>Walwadkar</a:t>
            </a:r>
            <a:r>
              <a:rPr lang="en-IN" sz="3700" b="1" dirty="0"/>
              <a:t> et al. (2022) – Smart Civic Issue Reporting using CNN–RNN &amp; NLP</a:t>
            </a:r>
            <a:endParaRPr lang="en-IN" sz="3700" b="1" dirty="0"/>
          </a:p>
          <a:p>
            <a:r>
              <a:rPr lang="en-IN" sz="3700" i="1" dirty="0"/>
              <a:t>(IJARSCT – Extended ML Focus)</a:t>
            </a:r>
            <a:endParaRPr lang="en-IN" sz="3700" dirty="0"/>
          </a:p>
          <a:p>
            <a:r>
              <a:rPr lang="en-IN" sz="3700" dirty="0"/>
              <a:t>Uses </a:t>
            </a:r>
            <a:r>
              <a:rPr lang="en-IN" sz="3700" b="1" dirty="0"/>
              <a:t>CNN–RNN hybrid</a:t>
            </a:r>
            <a:r>
              <a:rPr lang="en-IN" sz="3700" dirty="0"/>
              <a:t> for image-based issue analysis</a:t>
            </a:r>
            <a:endParaRPr lang="en-IN" sz="3700" dirty="0"/>
          </a:p>
          <a:p>
            <a:r>
              <a:rPr lang="en-IN" sz="3700" dirty="0"/>
              <a:t>Applies </a:t>
            </a:r>
            <a:r>
              <a:rPr lang="en-IN" sz="3700" b="1" dirty="0"/>
              <a:t>SVM-based NLP</a:t>
            </a:r>
            <a:r>
              <a:rPr lang="en-IN" sz="3700" dirty="0"/>
              <a:t> for severity detection</a:t>
            </a:r>
            <a:endParaRPr lang="en-IN" sz="3700" dirty="0"/>
          </a:p>
          <a:p>
            <a:r>
              <a:rPr lang="en-IN" sz="3700" dirty="0"/>
              <a:t>Automatically routes complaints to departments</a:t>
            </a:r>
            <a:endParaRPr lang="en-IN" sz="3700" dirty="0"/>
          </a:p>
          <a:p>
            <a:pPr marL="76200" indent="0">
              <a:buNone/>
            </a:pPr>
            <a:r>
              <a:rPr lang="en-IN" sz="3700" b="1" dirty="0"/>
              <a:t>Limitation:</a:t>
            </a:r>
            <a:endParaRPr lang="en-IN" sz="3700" dirty="0"/>
          </a:p>
          <a:p>
            <a:r>
              <a:rPr lang="en-IN" sz="3700" dirty="0"/>
              <a:t>High training and maintenance cost</a:t>
            </a:r>
            <a:endParaRPr lang="en-IN" sz="3700" dirty="0"/>
          </a:p>
          <a:p>
            <a:r>
              <a:rPr lang="en-IN" sz="3700" dirty="0"/>
              <a:t>Not suitable for low-resource environments</a:t>
            </a:r>
            <a:endParaRPr lang="en-IN" sz="3700" dirty="0"/>
          </a:p>
          <a:p>
            <a:r>
              <a:rPr lang="en-IN" sz="3700" dirty="0"/>
              <a:t>Difficult to deploy on free cloud platforms</a:t>
            </a:r>
            <a:endParaRPr lang="en-IN" sz="3700" dirty="0"/>
          </a:p>
          <a:p>
            <a:pPr marL="76200" indent="0">
              <a:buNone/>
            </a:pPr>
            <a:br>
              <a:rPr lang="en-IN" sz="3200" dirty="0"/>
            </a:br>
            <a:endParaRPr lang="en-IN" sz="3200" dirty="0"/>
          </a:p>
          <a:p>
            <a:pPr marL="76200" indent="0">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76200" indent="0">
              <a:buNone/>
            </a:pPr>
            <a:r>
              <a:rPr lang="en-IN" sz="1200" b="1" dirty="0">
                <a:latin typeface="Times New Roman" panose="02020603050405020304" pitchFamily="18" charset="0"/>
                <a:cs typeface="Times New Roman" panose="02020603050405020304" pitchFamily="18" charset="0"/>
              </a:rPr>
              <a:t>7) Mohanty et al. (2025) – Crowdsourced Complaint Resolution using Geotagging</a:t>
            </a:r>
            <a:endParaRPr lang="en-IN" sz="1200" b="1" dirty="0">
              <a:latin typeface="Times New Roman" panose="02020603050405020304" pitchFamily="18" charset="0"/>
              <a:cs typeface="Times New Roman" panose="02020603050405020304" pitchFamily="18" charset="0"/>
            </a:endParaRPr>
          </a:p>
          <a:p>
            <a:r>
              <a:rPr lang="en-IN" sz="1200" i="1" dirty="0">
                <a:latin typeface="Times New Roman" panose="02020603050405020304" pitchFamily="18" charset="0"/>
                <a:cs typeface="Times New Roman" panose="02020603050405020304" pitchFamily="18" charset="0"/>
              </a:rPr>
              <a:t>(IRJMETS)</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Flutter-based mobile application</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Citizens report civic issues with </a:t>
            </a:r>
            <a:r>
              <a:rPr lang="en-IN" sz="1200" b="1" dirty="0">
                <a:latin typeface="Times New Roman" panose="02020603050405020304" pitchFamily="18" charset="0"/>
                <a:cs typeface="Times New Roman" panose="02020603050405020304" pitchFamily="18" charset="0"/>
              </a:rPr>
              <a:t>GPS tagging</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Uses </a:t>
            </a:r>
            <a:r>
              <a:rPr lang="en-IN" sz="1200" b="1" dirty="0">
                <a:latin typeface="Times New Roman" panose="02020603050405020304" pitchFamily="18" charset="0"/>
                <a:cs typeface="Times New Roman" panose="02020603050405020304" pitchFamily="18" charset="0"/>
              </a:rPr>
              <a:t>community upvoting</a:t>
            </a:r>
            <a:r>
              <a:rPr lang="en-IN" sz="1200" dirty="0">
                <a:latin typeface="Times New Roman" panose="02020603050405020304" pitchFamily="18" charset="0"/>
                <a:cs typeface="Times New Roman" panose="02020603050405020304" pitchFamily="18" charset="0"/>
              </a:rPr>
              <a:t> for complaint validation</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Ticket-based escalation mechanism</a:t>
            </a:r>
            <a:endParaRPr lang="en-IN" sz="1200" dirty="0">
              <a:latin typeface="Times New Roman" panose="02020603050405020304" pitchFamily="18" charset="0"/>
              <a:cs typeface="Times New Roman" panose="02020603050405020304" pitchFamily="18" charset="0"/>
            </a:endParaRPr>
          </a:p>
          <a:p>
            <a:pPr marL="76200" indent="0">
              <a:buNone/>
            </a:pPr>
            <a:r>
              <a:rPr lang="en-IN" sz="1200" b="1" dirty="0">
                <a:latin typeface="Times New Roman" panose="02020603050405020304" pitchFamily="18" charset="0"/>
                <a:cs typeface="Times New Roman" panose="02020603050405020304" pitchFamily="18" charset="0"/>
              </a:rPr>
              <a:t>Limitation:</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Limited civic categories (mostly road issues)</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No intelligent automation</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Mobile-app dependency</a:t>
            </a:r>
            <a:endParaRPr lang="en-IN" sz="12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Objectives</a:t>
            </a:r>
            <a:endParaRPr lang="en-US" alt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1143001"/>
            <a:ext cx="10668000" cy="4100118"/>
          </a:xfrm>
        </p:spPr>
        <p:txBody>
          <a:bodyPr>
            <a:normAutofit fontScale="92500" lnSpcReduction="20000"/>
          </a:bodyPr>
          <a:lstStyle/>
          <a:p>
            <a:pPr marL="76200" indent="0">
              <a:buNone/>
            </a:pPr>
            <a:r>
              <a:rPr lang="en-US" sz="2000" b="1" dirty="0"/>
              <a:t>Primary Objectives:</a:t>
            </a:r>
            <a:endParaRPr lang="en-US" sz="2000" dirty="0"/>
          </a:p>
          <a:p>
            <a:r>
              <a:rPr lang="en-US" sz="2000" dirty="0"/>
              <a:t>Develop a cross-platform mobile application enabling citizens to submit civic complaints with photo evidence and GPS location</a:t>
            </a:r>
            <a:endParaRPr lang="en-US" sz="2000" dirty="0"/>
          </a:p>
          <a:p>
            <a:r>
              <a:rPr lang="en-US" sz="2000" dirty="0"/>
              <a:t>Build an AI-powered priority detection engine that automatically classifies complaints as High, Medium, or Low urgency using multi-factor analysis</a:t>
            </a:r>
            <a:endParaRPr lang="en-US" sz="2000" dirty="0"/>
          </a:p>
          <a:p>
            <a:r>
              <a:rPr lang="en-US" sz="2000" dirty="0"/>
              <a:t>Create a web-based administrative portal for government officials to review, </a:t>
            </a:r>
            <a:r>
              <a:rPr lang="en-US" sz="2000" dirty="0" err="1"/>
              <a:t>analyse</a:t>
            </a:r>
            <a:r>
              <a:rPr lang="en-US" sz="2000" dirty="0"/>
              <a:t>, and assign complaints to appropriate departments</a:t>
            </a:r>
            <a:endParaRPr lang="en-US" sz="2000" dirty="0"/>
          </a:p>
          <a:p>
            <a:r>
              <a:rPr lang="en-US" sz="2000" dirty="0"/>
              <a:t>Implement a department portal allowing field staff to update work status and upload photographic proof of completed work</a:t>
            </a:r>
            <a:endParaRPr lang="en-US" sz="2000" dirty="0"/>
          </a:p>
          <a:p>
            <a:r>
              <a:rPr lang="en-US" sz="2000" dirty="0"/>
              <a:t>Design a proof-based resolution system where before and after images are visible to citizens in the mobile app</a:t>
            </a:r>
            <a:endParaRPr lang="en-US" sz="2000" dirty="0"/>
          </a:p>
          <a:p>
            <a:r>
              <a:rPr lang="en-US" sz="2000" dirty="0"/>
              <a:t>Integrate a gamification mechanism through a points-based reward system to encourage responsible citizen participation</a:t>
            </a:r>
            <a:endParaRPr lang="en-US" sz="2000" dirty="0"/>
          </a:p>
          <a:p>
            <a:r>
              <a:rPr lang="en-US" sz="2000" dirty="0"/>
              <a:t>Deploy a scalable, serverless system using </a:t>
            </a:r>
            <a:r>
              <a:rPr lang="en-US" sz="2000" dirty="0" err="1"/>
              <a:t>Appwrite</a:t>
            </a:r>
            <a:r>
              <a:rPr lang="en-US" sz="2000" dirty="0"/>
              <a:t> BaaS requiring zero custom backend infrastructure</a:t>
            </a:r>
            <a:endParaRPr lang="en-US" sz="2000" dirty="0"/>
          </a:p>
          <a:p>
            <a:endParaRPr lang="en-US" alt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METHODS &amp; DRAWBACKS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947956"/>
            <a:ext cx="10668000" cy="5148045"/>
          </a:xfrm>
        </p:spPr>
        <p:txBody>
          <a:bodyPr>
            <a:normAutofit/>
          </a:bodyPr>
          <a:lstStyle/>
          <a:p>
            <a:pPr marL="76200" indent="0">
              <a:buNone/>
            </a:pPr>
            <a:r>
              <a:rPr lang="en-US" b="1" dirty="0">
                <a:latin typeface="Times New Roman" panose="02020603050405020304" pitchFamily="18" charset="0"/>
                <a:cs typeface="Times New Roman" panose="02020603050405020304" pitchFamily="18" charset="0"/>
              </a:rPr>
              <a:t>Existing Methods :</a:t>
            </a:r>
            <a:endParaRPr lang="en-US" b="1" dirty="0">
              <a:latin typeface="Times New Roman" panose="02020603050405020304" pitchFamily="18" charset="0"/>
              <a:cs typeface="Times New Roman" panose="02020603050405020304" pitchFamily="18" charset="0"/>
            </a:endParaRPr>
          </a:p>
          <a:p>
            <a:pPr marL="76200" indent="0">
              <a:buNone/>
            </a:pPr>
            <a:endParaRPr lang="en-US"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Drawbacks :</a:t>
            </a:r>
            <a:endParaRPr lang="en-US" b="1"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No automated priority classification </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No end-to-end workflow from submission to resolution </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No photographic proof of completion </a:t>
            </a:r>
            <a:endParaRPr lang="en-US" altLang="en-US" sz="2000" dirty="0">
              <a:solidFill>
                <a:schemeClr val="tx1"/>
              </a:solidFill>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988143" y="1445342"/>
          <a:ext cx="10215714" cy="2474024"/>
        </p:xfrm>
        <a:graphic>
          <a:graphicData uri="http://schemas.openxmlformats.org/drawingml/2006/table">
            <a:tbl>
              <a:tblPr/>
              <a:tblGrid>
                <a:gridCol w="3405238"/>
                <a:gridCol w="3405238"/>
                <a:gridCol w="3405238"/>
              </a:tblGrid>
              <a:tr h="339192">
                <a:tc>
                  <a:txBody>
                    <a:bodyPr/>
                    <a:lstStyle/>
                    <a:p>
                      <a:pPr>
                        <a:buNone/>
                      </a:pPr>
                      <a:r>
                        <a:rPr lang="en-IN" sz="1200" b="1" dirty="0">
                          <a:highlight>
                            <a:srgbClr val="C0C0C0"/>
                          </a:highlight>
                          <a:latin typeface="Times New Roman" panose="02020603050405020304" pitchFamily="18" charset="0"/>
                          <a:cs typeface="Times New Roman" panose="02020603050405020304" pitchFamily="18" charset="0"/>
                        </a:rPr>
                        <a:t>Existing System</a:t>
                      </a:r>
                      <a:endParaRPr lang="en-IN" sz="1200" b="1" dirty="0">
                        <a:highlight>
                          <a:srgbClr val="C0C0C0"/>
                        </a:highligh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b="1" dirty="0">
                          <a:highlight>
                            <a:srgbClr val="C0C0C0"/>
                          </a:highlight>
                          <a:latin typeface="Times New Roman" panose="02020603050405020304" pitchFamily="18" charset="0"/>
                          <a:cs typeface="Times New Roman" panose="02020603050405020304" pitchFamily="18" charset="0"/>
                        </a:rPr>
                        <a:t>How It Works</a:t>
                      </a:r>
                      <a:endParaRPr lang="en-IN" sz="1200" b="1" dirty="0">
                        <a:highlight>
                          <a:srgbClr val="C0C0C0"/>
                        </a:highligh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b="1" dirty="0">
                          <a:highlight>
                            <a:srgbClr val="C0C0C0"/>
                          </a:highlight>
                          <a:latin typeface="Times New Roman" panose="02020603050405020304" pitchFamily="18" charset="0"/>
                          <a:cs typeface="Times New Roman" panose="02020603050405020304" pitchFamily="18" charset="0"/>
                        </a:rPr>
                        <a:t>Drawbacks</a:t>
                      </a:r>
                      <a:endParaRPr lang="en-IN" sz="1200" b="1" dirty="0">
                        <a:highlight>
                          <a:srgbClr val="C0C0C0"/>
                        </a:highligh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436054">
                <a:tc>
                  <a:txBody>
                    <a:bodyPr/>
                    <a:lstStyle/>
                    <a:p>
                      <a:pPr>
                        <a:buNone/>
                      </a:pPr>
                      <a:r>
                        <a:rPr lang="en-IN" sz="1200" dirty="0">
                          <a:latin typeface="Times New Roman" panose="02020603050405020304" pitchFamily="18" charset="0"/>
                          <a:cs typeface="Times New Roman" panose="02020603050405020304" pitchFamily="18" charset="0"/>
                        </a:rPr>
                        <a:t>Phone Helplines</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Citizens call a number, operator logs manually</a:t>
                      </a:r>
                      <a:endParaRPr lang="en-US"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Slow, no tracking, dependent on operator availability</a:t>
                      </a:r>
                      <a:endParaRPr lang="en-US"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305108">
                <a:tc>
                  <a:txBody>
                    <a:bodyPr/>
                    <a:lstStyle/>
                    <a:p>
                      <a:pPr>
                        <a:buNone/>
                      </a:pPr>
                      <a:r>
                        <a:rPr lang="en-IN" sz="1200" dirty="0">
                          <a:latin typeface="Times New Roman" panose="02020603050405020304" pitchFamily="18" charset="0"/>
                          <a:cs typeface="Times New Roman" panose="02020603050405020304" pitchFamily="18" charset="0"/>
                        </a:rPr>
                        <a:t>Email Complaints</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a:latin typeface="Times New Roman" panose="02020603050405020304" pitchFamily="18" charset="0"/>
                          <a:cs typeface="Times New Roman" panose="02020603050405020304" pitchFamily="18" charset="0"/>
                        </a:rPr>
                        <a:t>Citizens email department</a:t>
                      </a:r>
                      <a:endParaRPr lang="en-IN"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No tracking, ignored easily, no priority system</a:t>
                      </a:r>
                      <a:endParaRPr lang="en-US"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305108">
                <a:tc>
                  <a:txBody>
                    <a:bodyPr/>
                    <a:lstStyle/>
                    <a:p>
                      <a:pPr>
                        <a:buNone/>
                      </a:pPr>
                      <a:r>
                        <a:rPr lang="en-IN" sz="1200" dirty="0" err="1">
                          <a:latin typeface="Times New Roman" panose="02020603050405020304" pitchFamily="18" charset="0"/>
                          <a:cs typeface="Times New Roman" panose="02020603050405020304" pitchFamily="18" charset="0"/>
                        </a:rPr>
                        <a:t>FixMyStreet</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SeeClickFix</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dirty="0">
                          <a:latin typeface="Times New Roman" panose="02020603050405020304" pitchFamily="18" charset="0"/>
                          <a:cs typeface="Times New Roman" panose="02020603050405020304" pitchFamily="18" charset="0"/>
                        </a:rPr>
                        <a:t>Web portal with map</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No AI, no department workflow, no proof system</a:t>
                      </a:r>
                      <a:endParaRPr lang="en-US"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436054">
                <a:tc>
                  <a:txBody>
                    <a:bodyPr/>
                    <a:lstStyle/>
                    <a:p>
                      <a:pPr>
                        <a:buNone/>
                      </a:pPr>
                      <a:r>
                        <a:rPr lang="en-IN" sz="1200">
                          <a:latin typeface="Times New Roman" panose="02020603050405020304" pitchFamily="18" charset="0"/>
                          <a:cs typeface="Times New Roman" panose="02020603050405020304" pitchFamily="18" charset="0"/>
                        </a:rPr>
                        <a:t>Government Mobile Apps (existing)</a:t>
                      </a:r>
                      <a:endParaRPr lang="en-IN"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dirty="0">
                          <a:latin typeface="Times New Roman" panose="02020603050405020304" pitchFamily="18" charset="0"/>
                          <a:cs typeface="Times New Roman" panose="02020603050405020304" pitchFamily="18" charset="0"/>
                        </a:rPr>
                        <a:t>Basic complaint submission</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No real-time tracking, no AI priority, no gamification</a:t>
                      </a:r>
                      <a:endParaRPr lang="en-US"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305108">
                <a:tc>
                  <a:txBody>
                    <a:bodyPr/>
                    <a:lstStyle/>
                    <a:p>
                      <a:pPr>
                        <a:buNone/>
                      </a:pPr>
                      <a:r>
                        <a:rPr lang="en-IN" sz="1200">
                          <a:latin typeface="Times New Roman" panose="02020603050405020304" pitchFamily="18" charset="0"/>
                          <a:cs typeface="Times New Roman" panose="02020603050405020304" pitchFamily="18" charset="0"/>
                        </a:rPr>
                        <a:t>IoT Sensor Networks</a:t>
                      </a:r>
                      <a:endParaRPr lang="en-IN"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a:latin typeface="Times New Roman" panose="02020603050405020304" pitchFamily="18" charset="0"/>
                          <a:cs typeface="Times New Roman" panose="02020603050405020304" pitchFamily="18" charset="0"/>
                        </a:rPr>
                        <a:t>Automatic detection via sensors</a:t>
                      </a:r>
                      <a:endParaRPr lang="en-IN"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Very expensive, only detects specific issue types</a:t>
                      </a:r>
                      <a:endParaRPr lang="en-US" sz="12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305108">
                <a:tc>
                  <a:txBody>
                    <a:bodyPr/>
                    <a:lstStyle/>
                    <a:p>
                      <a:pPr>
                        <a:buNone/>
                      </a:pPr>
                      <a:r>
                        <a:rPr lang="en-IN" sz="1200" dirty="0">
                          <a:latin typeface="Times New Roman" panose="02020603050405020304" pitchFamily="18" charset="0"/>
                          <a:cs typeface="Times New Roman" panose="02020603050405020304" pitchFamily="18" charset="0"/>
                        </a:rPr>
                        <a:t>Social Media Complaints</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200" dirty="0">
                          <a:latin typeface="Times New Roman" panose="02020603050405020304" pitchFamily="18" charset="0"/>
                          <a:cs typeface="Times New Roman" panose="02020603050405020304" pitchFamily="18" charset="0"/>
                        </a:rPr>
                        <a:t>Twitter/Facebook posts</a:t>
                      </a:r>
                      <a:endParaRPr lang="en-IN"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Unstructured, no official workflow, unreliable</a:t>
                      </a:r>
                      <a:endParaRPr lang="en-US" sz="1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939567"/>
            <a:ext cx="10668000" cy="5156434"/>
          </a:xfrm>
        </p:spPr>
        <p:txBody>
          <a:bodyPr>
            <a:normAutofit/>
          </a:bodyPr>
          <a:lstStyle/>
          <a:p>
            <a:pPr marL="76200" indent="0">
              <a:buNone/>
            </a:pPr>
            <a:r>
              <a:rPr lang="en-US" b="1" dirty="0">
                <a:latin typeface="Times New Roman" panose="02020603050405020304" pitchFamily="18" charset="0"/>
                <a:cs typeface="Times New Roman" panose="02020603050405020304" pitchFamily="18" charset="0"/>
              </a:rPr>
              <a:t>Proposed Solution :</a:t>
            </a:r>
            <a:endParaRPr lang="en-US" b="1"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Citizen Submits Report (Flutter App)</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AI Priority Engine Analyses Report</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Admin Reviews + Assigns to Department (React Portal)</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Department Works + Uploads Proof Photo (React Portal)</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76200" indent="0" algn="ctr">
              <a:buNone/>
            </a:pPr>
            <a:r>
              <a:rPr lang="en-US" sz="2000" dirty="0">
                <a:latin typeface="Times New Roman" panose="02020603050405020304" pitchFamily="18" charset="0"/>
                <a:cs typeface="Times New Roman" panose="02020603050405020304" pitchFamily="18" charset="0"/>
              </a:rPr>
              <a:t>Citizen Sees Before/After Images + Points Awarded (Flutter App)</a:t>
            </a:r>
            <a:endParaRPr lang="en-US" sz="2000" dirty="0">
              <a:latin typeface="Times New Roman" panose="02020603050405020304" pitchFamily="18" charset="0"/>
              <a:cs typeface="Times New Roman" panose="02020603050405020304" pitchFamily="18" charset="0"/>
            </a:endParaRPr>
          </a:p>
          <a:p>
            <a:pPr marL="76200" indent="0">
              <a:buNone/>
            </a:pP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FEASIBILITY STUDY</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956345"/>
            <a:ext cx="10668000" cy="5139656"/>
          </a:xfrm>
        </p:spPr>
        <p:txBody>
          <a:bodyPr>
            <a:normAutofit fontScale="62500" lnSpcReduction="20000"/>
          </a:bodyPr>
          <a:lstStyle/>
          <a:p>
            <a:pPr marL="76200" indent="0">
              <a:buNone/>
            </a:pPr>
            <a:r>
              <a:rPr lang="en-IN" b="1" dirty="0"/>
              <a:t>Technical Feasibility:</a:t>
            </a:r>
            <a:endParaRPr lang="en-IN" b="1" dirty="0"/>
          </a:p>
          <a:p>
            <a:pPr marL="76200" indent="0">
              <a:buNone/>
            </a:pPr>
            <a:endParaRPr lang="en-IN" dirty="0"/>
          </a:p>
          <a:p>
            <a:r>
              <a:rPr lang="en-IN" dirty="0"/>
              <a:t>Flutter framework supports Android, iOS, and Web from single codebase ✅</a:t>
            </a:r>
            <a:endParaRPr lang="en-IN" dirty="0"/>
          </a:p>
          <a:p>
            <a:r>
              <a:rPr lang="en-IN" dirty="0" err="1"/>
              <a:t>Appwrite</a:t>
            </a:r>
            <a:r>
              <a:rPr lang="en-IN" dirty="0"/>
              <a:t> BaaS provides database, storage, and APIs without custom server ✅</a:t>
            </a:r>
            <a:endParaRPr lang="en-IN" dirty="0"/>
          </a:p>
          <a:p>
            <a:r>
              <a:rPr lang="en-IN" dirty="0"/>
              <a:t>Google Maps APIs available with free tier for development ✅</a:t>
            </a:r>
            <a:endParaRPr lang="en-IN" dirty="0"/>
          </a:p>
          <a:p>
            <a:r>
              <a:rPr lang="en-IN" dirty="0"/>
              <a:t>React.js web portal deployable free on </a:t>
            </a:r>
            <a:r>
              <a:rPr lang="en-IN" dirty="0" err="1"/>
              <a:t>Vercel</a:t>
            </a:r>
            <a:r>
              <a:rPr lang="en-IN" dirty="0"/>
              <a:t> ✅</a:t>
            </a:r>
            <a:endParaRPr lang="en-IN" dirty="0"/>
          </a:p>
          <a:p>
            <a:r>
              <a:rPr lang="en-IN" dirty="0"/>
              <a:t>Rule-based AI engine requires no ML server or training data ✅</a:t>
            </a:r>
            <a:endParaRPr lang="en-IN" dirty="0"/>
          </a:p>
          <a:p>
            <a:endParaRPr lang="en-IN" dirty="0"/>
          </a:p>
          <a:p>
            <a:pPr marL="76200" indent="0">
              <a:buNone/>
            </a:pPr>
            <a:r>
              <a:rPr lang="en-IN" b="1" dirty="0"/>
              <a:t>Economic Feasibility:</a:t>
            </a:r>
            <a:endParaRPr lang="en-IN" dirty="0"/>
          </a:p>
          <a:p>
            <a:r>
              <a:rPr lang="en-IN" dirty="0"/>
              <a:t>Zero server cost — </a:t>
            </a:r>
            <a:r>
              <a:rPr lang="en-IN" dirty="0" err="1"/>
              <a:t>Appwrite</a:t>
            </a:r>
            <a:r>
              <a:rPr lang="en-IN" dirty="0"/>
              <a:t> Cloud free tier used ✅</a:t>
            </a:r>
            <a:endParaRPr lang="en-IN" dirty="0"/>
          </a:p>
          <a:p>
            <a:r>
              <a:rPr lang="en-IN" dirty="0"/>
              <a:t>Zero hosting cost — </a:t>
            </a:r>
            <a:r>
              <a:rPr lang="en-IN" dirty="0" err="1"/>
              <a:t>Vercel</a:t>
            </a:r>
            <a:r>
              <a:rPr lang="en-IN" dirty="0"/>
              <a:t> free tier for web portal ✅</a:t>
            </a:r>
            <a:endParaRPr lang="en-IN" dirty="0"/>
          </a:p>
          <a:p>
            <a:r>
              <a:rPr lang="en-IN" dirty="0"/>
              <a:t>Google Maps API — free for development usage ✅</a:t>
            </a:r>
            <a:endParaRPr lang="en-IN" dirty="0"/>
          </a:p>
          <a:p>
            <a:r>
              <a:rPr lang="en-IN" dirty="0"/>
              <a:t>Total infrastructure cost: ₹0 for development and testing ✅</a:t>
            </a:r>
            <a:endParaRPr lang="en-IN" dirty="0"/>
          </a:p>
          <a:p>
            <a:endParaRPr lang="en-IN" dirty="0"/>
          </a:p>
          <a:p>
            <a:pPr marL="76200" indent="0">
              <a:buNone/>
            </a:pPr>
            <a:r>
              <a:rPr lang="en-IN" b="1" dirty="0"/>
              <a:t>Operational Feasibility:</a:t>
            </a:r>
            <a:endParaRPr lang="en-IN" dirty="0"/>
          </a:p>
          <a:p>
            <a:r>
              <a:rPr lang="en-IN" dirty="0"/>
              <a:t>Admin portal is browser-based, no installation required ✅</a:t>
            </a:r>
            <a:endParaRPr lang="en-IN" dirty="0"/>
          </a:p>
          <a:p>
            <a:r>
              <a:rPr lang="en-IN" dirty="0"/>
              <a:t>Mobile app installable as APK on any Android device ✅</a:t>
            </a:r>
            <a:endParaRPr lang="en-IN" dirty="0"/>
          </a:p>
          <a:p>
            <a:r>
              <a:rPr lang="en-IN" dirty="0"/>
              <a:t>Simple login system, no complex training required ✅</a:t>
            </a:r>
            <a:endParaRPr lang="en-IN" dirty="0"/>
          </a:p>
          <a:p>
            <a:r>
              <a:rPr lang="en-IN" dirty="0"/>
              <a:t>Departments only see their own assigned reports ✅</a:t>
            </a:r>
            <a:endParaRPr lang="en-IN" dirty="0"/>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ARCHITECTURE DIAGRAM</a:t>
            </a:r>
            <a:endParaRPr lang="en-IN"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1"/>
          <a:stretch>
            <a:fillRect/>
          </a:stretch>
        </p:blipFill>
        <p:spPr>
          <a:xfrm>
            <a:off x="457200" y="762138"/>
            <a:ext cx="11201400" cy="56074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939567"/>
            <a:ext cx="10668000" cy="5156434"/>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Module 1 — User Authentication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Citizen login via Flutter, Admin/Dept via web. Sessions managed using </a:t>
            </a:r>
            <a:r>
              <a:rPr lang="en-US" dirty="0" err="1">
                <a:latin typeface="Times New Roman" panose="02020603050405020304" pitchFamily="18" charset="0"/>
                <a:cs typeface="Times New Roman" panose="02020603050405020304" pitchFamily="18" charset="0"/>
              </a:rPr>
              <a:t>SharedPreferences</a:t>
            </a:r>
            <a:r>
              <a:rPr lang="en-US" dirty="0">
                <a:latin typeface="Times New Roman" panose="02020603050405020304" pitchFamily="18" charset="0"/>
                <a:cs typeface="Times New Roman" panose="02020603050405020304" pitchFamily="18" charset="0"/>
              </a:rPr>
              <a:t> (mobile) and React Context (web).</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2 — Issue Reporting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Users upload photo + GPS location. Report stored in </a:t>
            </a:r>
            <a:r>
              <a:rPr lang="en-US" dirty="0" err="1">
                <a:latin typeface="Times New Roman" panose="02020603050405020304" pitchFamily="18" charset="0"/>
                <a:cs typeface="Times New Roman" panose="02020603050405020304" pitchFamily="18" charset="0"/>
              </a:rPr>
              <a:t>Appwrite</a:t>
            </a:r>
            <a:r>
              <a:rPr lang="en-US" dirty="0">
                <a:latin typeface="Times New Roman" panose="02020603050405020304" pitchFamily="18" charset="0"/>
                <a:cs typeface="Times New Roman" panose="02020603050405020304" pitchFamily="18" charset="0"/>
              </a:rPr>
              <a:t> with </a:t>
            </a:r>
            <a:r>
              <a:rPr lang="en-US" i="1" dirty="0">
                <a:latin typeface="Times New Roman" panose="02020603050405020304" pitchFamily="18" charset="0"/>
                <a:cs typeface="Times New Roman" panose="02020603050405020304" pitchFamily="18" charset="0"/>
              </a:rPr>
              <a:t>pending</a:t>
            </a:r>
            <a:r>
              <a:rPr lang="en-US" dirty="0">
                <a:latin typeface="Times New Roman" panose="02020603050405020304" pitchFamily="18" charset="0"/>
                <a:cs typeface="Times New Roman" panose="02020603050405020304" pitchFamily="18" charset="0"/>
              </a:rPr>
              <a:t> status.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3 — AI Priority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NLP + time + location analysis using Google Maps APIs to assign High/Medium/Low priority.</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4 — Admin Management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Admin views reports, runs AI, assigns departments, and adds notes.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5 — Department Workflow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Departments update status: Assigned → In Progress → Resolved and upload proof images.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6 — Proof-Based Resolution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Before/After images stored and shown to users with verification badge.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7 — Gamification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Points awarded based on report validity and priority. User levels: New → Bronze → Silver → Gold.</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 8 — Real-Time Tracking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Users track reports through 4 stages with history and points dashboard.</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SOFTWARE DETAILS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872455"/>
            <a:ext cx="10668000" cy="5223546"/>
          </a:xfrm>
        </p:spPr>
        <p:txBody>
          <a:bodyPr/>
          <a:lstStyle/>
          <a:p>
            <a:pPr marL="76200" indent="0">
              <a:buNone/>
            </a:pPr>
            <a:r>
              <a:rPr lang="en-IN" b="1" dirty="0">
                <a:latin typeface="Times New Roman" panose="02020603050405020304" pitchFamily="18" charset="0"/>
                <a:cs typeface="Times New Roman" panose="02020603050405020304" pitchFamily="18" charset="0"/>
              </a:rPr>
              <a:t>Software Stack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Mobile App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Flutter (Dart), Leaflet Maps, Geolocator, Image Picker, </a:t>
            </a:r>
            <a:r>
              <a:rPr lang="en-IN" dirty="0" err="1">
                <a:latin typeface="Times New Roman" panose="02020603050405020304" pitchFamily="18" charset="0"/>
                <a:cs typeface="Times New Roman" panose="02020603050405020304" pitchFamily="18" charset="0"/>
              </a:rPr>
              <a:t>Appwrite</a:t>
            </a:r>
            <a:r>
              <a:rPr lang="en-IN" dirty="0">
                <a:latin typeface="Times New Roman" panose="02020603050405020304" pitchFamily="18" charset="0"/>
                <a:cs typeface="Times New Roman" panose="02020603050405020304" pitchFamily="18" charset="0"/>
              </a:rPr>
              <a:t> SDK, </a:t>
            </a:r>
            <a:r>
              <a:rPr lang="en-IN" dirty="0" err="1">
                <a:latin typeface="Times New Roman" panose="02020603050405020304" pitchFamily="18" charset="0"/>
                <a:cs typeface="Times New Roman" panose="02020603050405020304" pitchFamily="18" charset="0"/>
              </a:rPr>
              <a:t>SharedPreferences</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Web Portal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React.js, React Router, </a:t>
            </a:r>
            <a:r>
              <a:rPr lang="en-IN" dirty="0" err="1">
                <a:latin typeface="Times New Roman" panose="02020603050405020304" pitchFamily="18" charset="0"/>
                <a:cs typeface="Times New Roman" panose="02020603050405020304" pitchFamily="18" charset="0"/>
              </a:rPr>
              <a:t>Appwrite</a:t>
            </a:r>
            <a:r>
              <a:rPr lang="en-IN" dirty="0">
                <a:latin typeface="Times New Roman" panose="02020603050405020304" pitchFamily="18" charset="0"/>
                <a:cs typeface="Times New Roman" panose="02020603050405020304" pitchFamily="18" charset="0"/>
              </a:rPr>
              <a:t> JS SDK, React Context, </a:t>
            </a:r>
            <a:r>
              <a:rPr lang="en-IN" dirty="0" err="1">
                <a:latin typeface="Times New Roman" panose="02020603050405020304" pitchFamily="18" charset="0"/>
                <a:cs typeface="Times New Roman" panose="02020603050405020304" pitchFamily="18" charset="0"/>
              </a:rPr>
              <a:t>Vercel</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Backend</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Appwrite</a:t>
            </a:r>
            <a:r>
              <a:rPr lang="en-IN" dirty="0">
                <a:latin typeface="Times New Roman" panose="02020603050405020304" pitchFamily="18" charset="0"/>
                <a:cs typeface="Times New Roman" panose="02020603050405020304" pitchFamily="18" charset="0"/>
              </a:rPr>
              <a:t> Cloud, NoSQL DB, Storage Buckets, Google Maps APIs, GitHub</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Tools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VS Code, Android Studio, Chrome, Postman, </a:t>
            </a:r>
            <a:r>
              <a:rPr lang="en-IN" dirty="0" err="1">
                <a:latin typeface="Times New Roman" panose="02020603050405020304" pitchFamily="18" charset="0"/>
                <a:cs typeface="Times New Roman" panose="02020603050405020304" pitchFamily="18" charset="0"/>
              </a:rPr>
              <a:t>Appwrite</a:t>
            </a:r>
            <a:r>
              <a:rPr lang="en-IN" dirty="0">
                <a:latin typeface="Times New Roman" panose="02020603050405020304" pitchFamily="18" charset="0"/>
                <a:cs typeface="Times New Roman" panose="02020603050405020304" pitchFamily="18" charset="0"/>
              </a:rPr>
              <a:t> Console</a:t>
            </a:r>
            <a:endParaRPr lang="en-IN" dirty="0">
              <a:latin typeface="Times New Roman" panose="02020603050405020304" pitchFamily="18" charset="0"/>
              <a:cs typeface="Times New Roman" panose="02020603050405020304" pitchFamily="18" charset="0"/>
            </a:endParaRPr>
          </a:p>
          <a:p>
            <a:pPr marL="7620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6" name="Title 5"/>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TIMELINE (GANTT CHART) </a:t>
            </a:r>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872455" y="1049866"/>
          <a:ext cx="10494630" cy="4788873"/>
        </p:xfrm>
        <a:graphic>
          <a:graphicData uri="http://schemas.openxmlformats.org/drawingml/2006/table">
            <a:tbl>
              <a:tblPr firstRow="1" bandRow="1">
                <a:tableStyleId>{5C22544A-7EE6-4342-B048-85BDC9FD1C3A}</a:tableStyleId>
              </a:tblPr>
              <a:tblGrid>
                <a:gridCol w="2098926"/>
                <a:gridCol w="2098926"/>
                <a:gridCol w="2098926"/>
                <a:gridCol w="2098926"/>
                <a:gridCol w="2098926"/>
              </a:tblGrid>
              <a:tr h="344535">
                <a:tc>
                  <a:txBody>
                    <a:bodyPr/>
                    <a:lstStyle/>
                    <a:p>
                      <a:pPr>
                        <a:buNone/>
                      </a:pPr>
                      <a:r>
                        <a:rPr lang="en-IN" dirty="0"/>
                        <a:t>Activity</a:t>
                      </a:r>
                      <a:endParaRPr lang="en-IN" dirty="0"/>
                    </a:p>
                  </a:txBody>
                  <a:tcPr anchor="ctr"/>
                </a:tc>
                <a:tc>
                  <a:txBody>
                    <a:bodyPr/>
                    <a:lstStyle/>
                    <a:p>
                      <a:pPr>
                        <a:buNone/>
                      </a:pPr>
                      <a:r>
                        <a:rPr lang="en-IN"/>
                        <a:t>Jan</a:t>
                      </a:r>
                      <a:endParaRPr lang="en-IN"/>
                    </a:p>
                  </a:txBody>
                  <a:tcPr anchor="ctr"/>
                </a:tc>
                <a:tc>
                  <a:txBody>
                    <a:bodyPr/>
                    <a:lstStyle/>
                    <a:p>
                      <a:pPr>
                        <a:buNone/>
                      </a:pPr>
                      <a:r>
                        <a:rPr lang="en-IN"/>
                        <a:t>Feb</a:t>
                      </a:r>
                      <a:endParaRPr lang="en-IN"/>
                    </a:p>
                  </a:txBody>
                  <a:tcPr anchor="ctr"/>
                </a:tc>
                <a:tc>
                  <a:txBody>
                    <a:bodyPr/>
                    <a:lstStyle/>
                    <a:p>
                      <a:pPr>
                        <a:buNone/>
                      </a:pPr>
                      <a:r>
                        <a:rPr lang="en-IN"/>
                        <a:t>Mar</a:t>
                      </a:r>
                      <a:endParaRPr lang="en-IN"/>
                    </a:p>
                  </a:txBody>
                  <a:tcPr anchor="ctr"/>
                </a:tc>
                <a:tc>
                  <a:txBody>
                    <a:bodyPr/>
                    <a:lstStyle/>
                    <a:p>
                      <a:pPr>
                        <a:buNone/>
                      </a:pPr>
                      <a:r>
                        <a:rPr lang="en-IN"/>
                        <a:t>Apr</a:t>
                      </a:r>
                      <a:endParaRPr lang="en-IN"/>
                    </a:p>
                  </a:txBody>
                  <a:tcPr anchor="ctr"/>
                </a:tc>
              </a:tr>
              <a:tr h="481404">
                <a:tc>
                  <a:txBody>
                    <a:bodyPr/>
                    <a:lstStyle/>
                    <a:p>
                      <a:pPr>
                        <a:buNone/>
                      </a:pPr>
                      <a:r>
                        <a:rPr lang="en-IN"/>
                        <a:t>Problem Identification</a:t>
                      </a:r>
                      <a:endParaRPr lang="en-IN"/>
                    </a:p>
                  </a:txBody>
                  <a:tcPr anchor="ctr"/>
                </a:tc>
                <a:tc>
                  <a:txBody>
                    <a:bodyPr/>
                    <a:lstStyle/>
                    <a:p>
                      <a:pPr>
                        <a:buNone/>
                      </a:pPr>
                      <a:r>
                        <a:rPr lang="en-IN"/>
                        <a:t>████</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r>
              <a:tr h="344535">
                <a:tc>
                  <a:txBody>
                    <a:bodyPr/>
                    <a:lstStyle/>
                    <a:p>
                      <a:pPr>
                        <a:buNone/>
                      </a:pPr>
                      <a:r>
                        <a:rPr lang="en-IN"/>
                        <a:t>Review-1 (CA-01)</a:t>
                      </a:r>
                      <a:endParaRPr lang="en-IN" dirty="0"/>
                    </a:p>
                  </a:txBody>
                  <a:tcPr anchor="ctr"/>
                </a:tc>
                <a:tc>
                  <a:txBody>
                    <a:bodyPr/>
                    <a:lstStyle/>
                    <a:p>
                      <a:pPr>
                        <a:buNone/>
                      </a:pPr>
                      <a:r>
                        <a:rPr lang="en-IN"/>
                        <a:t>███</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r>
              <a:tr h="570291">
                <a:tc>
                  <a:txBody>
                    <a:bodyPr/>
                    <a:lstStyle/>
                    <a:p>
                      <a:pPr>
                        <a:buNone/>
                      </a:pPr>
                      <a:r>
                        <a:rPr lang="en-IN"/>
                        <a:t>Literature Survey &amp; Design</a:t>
                      </a:r>
                      <a:endParaRPr lang="en-IN"/>
                    </a:p>
                  </a:txBody>
                  <a:tcPr anchor="ctr"/>
                </a:tc>
                <a:tc>
                  <a:txBody>
                    <a:bodyPr/>
                    <a:lstStyle/>
                    <a:p>
                      <a:pPr>
                        <a:buNone/>
                      </a:pPr>
                      <a:r>
                        <a:rPr lang="en-IN"/>
                        <a:t>████</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r>
              <a:tr h="344535">
                <a:tc>
                  <a:txBody>
                    <a:bodyPr/>
                    <a:lstStyle/>
                    <a:p>
                      <a:pPr>
                        <a:buNone/>
                      </a:pPr>
                      <a:r>
                        <a:rPr lang="en-IN"/>
                        <a:t>Review-2 (CA-02)</a:t>
                      </a:r>
                      <a:endParaRPr lang="en-IN"/>
                    </a:p>
                  </a:txBody>
                  <a:tcPr anchor="ctr"/>
                </a:tc>
                <a:tc>
                  <a:txBody>
                    <a:bodyPr/>
                    <a:lstStyle/>
                    <a:p>
                      <a:pPr>
                        <a:buNone/>
                      </a:pPr>
                      <a:r>
                        <a:rPr lang="en-IN"/>
                        <a:t>█</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r>
              <a:tr h="481404">
                <a:tc>
                  <a:txBody>
                    <a:bodyPr/>
                    <a:lstStyle/>
                    <a:p>
                      <a:pPr>
                        <a:buNone/>
                      </a:pPr>
                      <a:r>
                        <a:rPr lang="en-IN"/>
                        <a:t>Frontend Development</a:t>
                      </a:r>
                      <a:endParaRPr lang="en-IN"/>
                    </a:p>
                  </a:txBody>
                  <a:tcPr anchor="ctr"/>
                </a:tc>
                <a:tc>
                  <a:txBody>
                    <a:bodyPr/>
                    <a:lstStyle/>
                    <a:p>
                      <a:pPr>
                        <a:buNone/>
                      </a:pPr>
                      <a:endParaRPr lang="en-IN"/>
                    </a:p>
                  </a:txBody>
                  <a:tcPr anchor="ctr"/>
                </a:tc>
                <a:tc>
                  <a:txBody>
                    <a:bodyPr/>
                    <a:lstStyle/>
                    <a:p>
                      <a:pPr>
                        <a:buNone/>
                      </a:pPr>
                      <a:r>
                        <a:rPr lang="en-IN"/>
                        <a:t>████</a:t>
                      </a:r>
                      <a:endParaRPr lang="en-IN"/>
                    </a:p>
                  </a:txBody>
                  <a:tcPr anchor="ctr"/>
                </a:tc>
                <a:tc>
                  <a:txBody>
                    <a:bodyPr/>
                    <a:lstStyle/>
                    <a:p>
                      <a:pPr>
                        <a:buNone/>
                      </a:pPr>
                      <a:endParaRPr lang="en-IN"/>
                    </a:p>
                  </a:txBody>
                  <a:tcPr anchor="ctr"/>
                </a:tc>
                <a:tc>
                  <a:txBody>
                    <a:bodyPr/>
                    <a:lstStyle/>
                    <a:p>
                      <a:pPr>
                        <a:buNone/>
                      </a:pPr>
                      <a:endParaRPr lang="en-IN"/>
                    </a:p>
                  </a:txBody>
                  <a:tcPr anchor="ctr"/>
                </a:tc>
              </a:tr>
              <a:tr h="344535">
                <a:tc>
                  <a:txBody>
                    <a:bodyPr/>
                    <a:lstStyle/>
                    <a:p>
                      <a:pPr>
                        <a:buNone/>
                      </a:pPr>
                      <a:r>
                        <a:rPr lang="en-IN"/>
                        <a:t>Review-3 (CA-03)</a:t>
                      </a:r>
                      <a:endParaRPr lang="en-IN"/>
                    </a:p>
                  </a:txBody>
                  <a:tcPr anchor="ctr"/>
                </a:tc>
                <a:tc>
                  <a:txBody>
                    <a:bodyPr/>
                    <a:lstStyle/>
                    <a:p>
                      <a:pPr>
                        <a:buNone/>
                      </a:pPr>
                      <a:endParaRPr lang="en-IN"/>
                    </a:p>
                  </a:txBody>
                  <a:tcPr anchor="ctr"/>
                </a:tc>
                <a:tc>
                  <a:txBody>
                    <a:bodyPr/>
                    <a:lstStyle/>
                    <a:p>
                      <a:pPr>
                        <a:buNone/>
                      </a:pPr>
                      <a:r>
                        <a:rPr lang="en-IN"/>
                        <a:t>█</a:t>
                      </a:r>
                      <a:endParaRPr lang="en-IN"/>
                    </a:p>
                  </a:txBody>
                  <a:tcPr anchor="ctr"/>
                </a:tc>
                <a:tc>
                  <a:txBody>
                    <a:bodyPr/>
                    <a:lstStyle/>
                    <a:p>
                      <a:pPr>
                        <a:buNone/>
                      </a:pPr>
                      <a:endParaRPr lang="en-IN"/>
                    </a:p>
                  </a:txBody>
                  <a:tcPr anchor="ctr"/>
                </a:tc>
                <a:tc>
                  <a:txBody>
                    <a:bodyPr/>
                    <a:lstStyle/>
                    <a:p>
                      <a:pPr>
                        <a:buNone/>
                      </a:pPr>
                      <a:endParaRPr lang="en-IN"/>
                    </a:p>
                  </a:txBody>
                  <a:tcPr anchor="ctr"/>
                </a:tc>
              </a:tr>
              <a:tr h="481404">
                <a:tc>
                  <a:txBody>
                    <a:bodyPr/>
                    <a:lstStyle/>
                    <a:p>
                      <a:pPr>
                        <a:buNone/>
                      </a:pPr>
                      <a:r>
                        <a:rPr lang="en-IN"/>
                        <a:t>Backend &amp; Integration</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endParaRPr lang="en-IN"/>
                    </a:p>
                  </a:txBody>
                  <a:tcPr anchor="ctr"/>
                </a:tc>
                <a:tc>
                  <a:txBody>
                    <a:bodyPr/>
                    <a:lstStyle/>
                    <a:p>
                      <a:pPr>
                        <a:buNone/>
                      </a:pPr>
                      <a:endParaRPr lang="en-IN"/>
                    </a:p>
                  </a:txBody>
                  <a:tcPr anchor="ctr"/>
                </a:tc>
              </a:tr>
              <a:tr h="344535">
                <a:tc>
                  <a:txBody>
                    <a:bodyPr/>
                    <a:lstStyle/>
                    <a:p>
                      <a:pPr>
                        <a:buNone/>
                      </a:pPr>
                      <a:r>
                        <a:rPr lang="en-IN"/>
                        <a:t>Review-4 (CA-04)</a:t>
                      </a:r>
                      <a:endParaRPr lang="en-IN"/>
                    </a:p>
                  </a:txBody>
                  <a:tcPr anchor="ctr"/>
                </a:tc>
                <a:tc>
                  <a:txBody>
                    <a:bodyPr/>
                    <a:lstStyle/>
                    <a:p>
                      <a:pPr>
                        <a:buNone/>
                      </a:pPr>
                      <a:endParaRPr lang="en-IN" dirty="0"/>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endParaRPr lang="en-IN"/>
                    </a:p>
                  </a:txBody>
                  <a:tcPr anchor="ctr"/>
                </a:tc>
              </a:tr>
              <a:tr h="570291">
                <a:tc>
                  <a:txBody>
                    <a:bodyPr/>
                    <a:lstStyle/>
                    <a:p>
                      <a:pPr>
                        <a:buNone/>
                      </a:pPr>
                      <a:r>
                        <a:rPr lang="en-IN"/>
                        <a:t>Testing &amp; Documentation</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endParaRPr lang="en-IN"/>
                    </a:p>
                  </a:txBody>
                  <a:tcPr anchor="ctr"/>
                </a:tc>
              </a:tr>
              <a:tr h="481404">
                <a:tc>
                  <a:txBody>
                    <a:bodyPr/>
                    <a:lstStyle/>
                    <a:p>
                      <a:pPr>
                        <a:buNone/>
                      </a:pPr>
                      <a:r>
                        <a:rPr lang="en-IN"/>
                        <a:t>Final Viva (CA-05)</a:t>
                      </a: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dirty="0"/>
                        <a:t>█</a:t>
                      </a:r>
                      <a:endParaRPr lang="en-IN" dirty="0"/>
                    </a:p>
                  </a:txBody>
                  <a:tcPr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pPr>
              <a:lnSpc>
                <a:spcPct val="120000"/>
              </a:lnSpc>
            </a:pPr>
            <a:r>
              <a:rPr lang="en-IN" sz="2600" dirty="0">
                <a:latin typeface="Times New Roman" panose="02020603050405020304" pitchFamily="18" charset="0"/>
                <a:cs typeface="Times New Roman" panose="02020603050405020304" pitchFamily="18" charset="0"/>
              </a:rPr>
              <a:t>[1] R. Ilamaran, M. Kavin Rajan, and S. </a:t>
            </a:r>
            <a:r>
              <a:rPr lang="en-IN" sz="2600" dirty="0" err="1">
                <a:latin typeface="Times New Roman" panose="02020603050405020304" pitchFamily="18" charset="0"/>
                <a:cs typeface="Times New Roman" panose="02020603050405020304" pitchFamily="18" charset="0"/>
              </a:rPr>
              <a:t>Hareeswar</a:t>
            </a:r>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Crowdsourced Civic Issue Reporting and Resolution System</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International Journal of Research Publication and Reviews (IJRPR)</a:t>
            </a:r>
            <a:r>
              <a:rPr lang="en-IN" sz="2600" dirty="0">
                <a:latin typeface="Times New Roman" panose="02020603050405020304" pitchFamily="18" charset="0"/>
                <a:cs typeface="Times New Roman" panose="02020603050405020304" pitchFamily="18" charset="0"/>
              </a:rPr>
              <a:t>, vol. 6, no. 11, pp. 8907–8910, Nov. 2025.</a:t>
            </a:r>
            <a:endParaRPr lang="en-IN" sz="2600" dirty="0">
              <a:latin typeface="Times New Roman" panose="02020603050405020304" pitchFamily="18" charset="0"/>
              <a:cs typeface="Times New Roman" panose="02020603050405020304" pitchFamily="18" charset="0"/>
            </a:endParaRPr>
          </a:p>
          <a:p>
            <a:pPr>
              <a:lnSpc>
                <a:spcPct val="120000"/>
              </a:lnSpc>
            </a:pPr>
            <a:r>
              <a:rPr lang="en-IN" sz="2600" dirty="0">
                <a:latin typeface="Times New Roman" panose="02020603050405020304" pitchFamily="18" charset="0"/>
                <a:cs typeface="Times New Roman" panose="02020603050405020304" pitchFamily="18" charset="0"/>
              </a:rPr>
              <a:t>[2] K. Binu, K. Vinay, R. Midhun, V. P. Athul, and T. Shereena, “</a:t>
            </a:r>
            <a:r>
              <a:rPr lang="en-IN" sz="2600" b="1" dirty="0" err="1">
                <a:latin typeface="Times New Roman" panose="02020603050405020304" pitchFamily="18" charset="0"/>
                <a:cs typeface="Times New Roman" panose="02020603050405020304" pitchFamily="18" charset="0"/>
              </a:rPr>
              <a:t>SmartReporter</a:t>
            </a:r>
            <a:r>
              <a:rPr lang="en-IN" sz="2600" b="1" dirty="0">
                <a:latin typeface="Times New Roman" panose="02020603050405020304" pitchFamily="18" charset="0"/>
                <a:cs typeface="Times New Roman" panose="02020603050405020304" pitchFamily="18" charset="0"/>
              </a:rPr>
              <a:t>: A Crowdsourced Complaint Resolution System</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International Journal of Engineering Research &amp; Technology (IJERT)</a:t>
            </a:r>
            <a:r>
              <a:rPr lang="en-IN" sz="2600" dirty="0">
                <a:latin typeface="Times New Roman" panose="02020603050405020304" pitchFamily="18" charset="0"/>
                <a:cs typeface="Times New Roman" panose="02020603050405020304" pitchFamily="18" charset="0"/>
              </a:rPr>
              <a:t>, vol. 15, no. 1, Jan. 2026.</a:t>
            </a:r>
            <a:endParaRPr lang="en-IN" sz="2600" dirty="0">
              <a:latin typeface="Times New Roman" panose="02020603050405020304" pitchFamily="18" charset="0"/>
              <a:cs typeface="Times New Roman" panose="02020603050405020304" pitchFamily="18" charset="0"/>
            </a:endParaRPr>
          </a:p>
          <a:p>
            <a:pPr>
              <a:lnSpc>
                <a:spcPct val="120000"/>
              </a:lnSpc>
            </a:pPr>
            <a:r>
              <a:rPr lang="en-IN" sz="2600" dirty="0">
                <a:latin typeface="Times New Roman" panose="02020603050405020304" pitchFamily="18" charset="0"/>
                <a:cs typeface="Times New Roman" panose="02020603050405020304" pitchFamily="18" charset="0"/>
              </a:rPr>
              <a:t>[3] D. </a:t>
            </a:r>
            <a:r>
              <a:rPr lang="en-IN" sz="2600" dirty="0" err="1">
                <a:latin typeface="Times New Roman" panose="02020603050405020304" pitchFamily="18" charset="0"/>
                <a:cs typeface="Times New Roman" panose="02020603050405020304" pitchFamily="18" charset="0"/>
              </a:rPr>
              <a:t>Walwadkar</a:t>
            </a:r>
            <a:r>
              <a:rPr lang="en-IN" sz="2600" dirty="0">
                <a:latin typeface="Times New Roman" panose="02020603050405020304" pitchFamily="18" charset="0"/>
                <a:cs typeface="Times New Roman" panose="02020603050405020304" pitchFamily="18" charset="0"/>
              </a:rPr>
              <a:t>, J. Patil, M. Hussain, and S. Yadav, “</a:t>
            </a:r>
            <a:r>
              <a:rPr lang="en-IN" sz="2600" b="1" dirty="0">
                <a:latin typeface="Times New Roman" panose="02020603050405020304" pitchFamily="18" charset="0"/>
                <a:cs typeface="Times New Roman" panose="02020603050405020304" pitchFamily="18" charset="0"/>
              </a:rPr>
              <a:t>Smart Civic Issue Reporting System</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International Journal of Advanced Research in Science, Communication and Technology (IJARSCT)</a:t>
            </a:r>
            <a:r>
              <a:rPr lang="en-IN" sz="2600" dirty="0">
                <a:latin typeface="Times New Roman" panose="02020603050405020304" pitchFamily="18" charset="0"/>
                <a:cs typeface="Times New Roman" panose="02020603050405020304" pitchFamily="18" charset="0"/>
              </a:rPr>
              <a:t>, vol. 2, no. 1, pp. 248–254, Mar. 2022, </a:t>
            </a:r>
            <a:r>
              <a:rPr lang="en-IN" sz="2600" dirty="0" err="1">
                <a:latin typeface="Times New Roman" panose="02020603050405020304" pitchFamily="18" charset="0"/>
                <a:cs typeface="Times New Roman" panose="02020603050405020304" pitchFamily="18" charset="0"/>
              </a:rPr>
              <a:t>doi</a:t>
            </a:r>
            <a:r>
              <a:rPr lang="en-IN" sz="2600" dirty="0">
                <a:latin typeface="Times New Roman" panose="02020603050405020304" pitchFamily="18" charset="0"/>
                <a:cs typeface="Times New Roman" panose="02020603050405020304" pitchFamily="18" charset="0"/>
              </a:rPr>
              <a:t>: 10.48175/IJARSCT-2659.</a:t>
            </a:r>
            <a:endParaRPr lang="en-IN" sz="2600" dirty="0">
              <a:latin typeface="Times New Roman" panose="02020603050405020304" pitchFamily="18" charset="0"/>
              <a:cs typeface="Times New Roman" panose="02020603050405020304" pitchFamily="18" charset="0"/>
            </a:endParaRPr>
          </a:p>
          <a:p>
            <a:pPr>
              <a:lnSpc>
                <a:spcPct val="120000"/>
              </a:lnSpc>
            </a:pPr>
            <a:r>
              <a:rPr lang="en-IN" sz="2600" dirty="0">
                <a:latin typeface="Times New Roman" panose="02020603050405020304" pitchFamily="18" charset="0"/>
                <a:cs typeface="Times New Roman" panose="02020603050405020304" pitchFamily="18" charset="0"/>
              </a:rPr>
              <a:t>[4] S. G. Shukla, T. A. Bhandare, R. V. Bava, and I. S. </a:t>
            </a:r>
            <a:r>
              <a:rPr lang="en-IN" sz="2600" dirty="0" err="1">
                <a:latin typeface="Times New Roman" panose="02020603050405020304" pitchFamily="18" charset="0"/>
                <a:cs typeface="Times New Roman" panose="02020603050405020304" pitchFamily="18" charset="0"/>
              </a:rPr>
              <a:t>Ahirrao</a:t>
            </a:r>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Civic Complaint Registration Application for Citizens of Urban/Rural Areas</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Journal of Emerging Technologies and Innovative Research (JETIR)</a:t>
            </a:r>
            <a:r>
              <a:rPr lang="en-IN" sz="2600" dirty="0">
                <a:latin typeface="Times New Roman" panose="02020603050405020304" pitchFamily="18" charset="0"/>
                <a:cs typeface="Times New Roman" panose="02020603050405020304" pitchFamily="18" charset="0"/>
              </a:rPr>
              <a:t>, vol. 11, no. 5, May 2024.</a:t>
            </a:r>
            <a:endParaRPr lang="en-IN" sz="2600" dirty="0">
              <a:latin typeface="Times New Roman" panose="02020603050405020304" pitchFamily="18" charset="0"/>
              <a:cs typeface="Times New Roman" panose="02020603050405020304" pitchFamily="18" charset="0"/>
            </a:endParaRPr>
          </a:p>
          <a:p>
            <a:pPr>
              <a:lnSpc>
                <a:spcPct val="120000"/>
              </a:lnSpc>
            </a:pPr>
            <a:r>
              <a:rPr lang="en-IN" sz="2600" dirty="0">
                <a:latin typeface="Times New Roman" panose="02020603050405020304" pitchFamily="18" charset="0"/>
                <a:cs typeface="Times New Roman" panose="02020603050405020304" pitchFamily="18" charset="0"/>
              </a:rPr>
              <a:t>[5] D. D. Meshram, R. R. Sahu, S. V. Pathak, K. P. </a:t>
            </a:r>
            <a:r>
              <a:rPr lang="en-IN" sz="2600" dirty="0" err="1">
                <a:latin typeface="Times New Roman" panose="02020603050405020304" pitchFamily="18" charset="0"/>
                <a:cs typeface="Times New Roman" panose="02020603050405020304" pitchFamily="18" charset="0"/>
              </a:rPr>
              <a:t>Fukte</a:t>
            </a:r>
            <a:r>
              <a:rPr lang="en-IN" sz="2600" dirty="0">
                <a:latin typeface="Times New Roman" panose="02020603050405020304" pitchFamily="18" charset="0"/>
                <a:cs typeface="Times New Roman" panose="02020603050405020304" pitchFamily="18" charset="0"/>
              </a:rPr>
              <a:t>, A. P. </a:t>
            </a:r>
            <a:r>
              <a:rPr lang="en-IN" sz="2600" dirty="0" err="1">
                <a:latin typeface="Times New Roman" panose="02020603050405020304" pitchFamily="18" charset="0"/>
                <a:cs typeface="Times New Roman" panose="02020603050405020304" pitchFamily="18" charset="0"/>
              </a:rPr>
              <a:t>Darodkar</a:t>
            </a:r>
            <a:r>
              <a:rPr lang="en-IN" sz="2600" dirty="0">
                <a:latin typeface="Times New Roman" panose="02020603050405020304" pitchFamily="18" charset="0"/>
                <a:cs typeface="Times New Roman" panose="02020603050405020304" pitchFamily="18" charset="0"/>
              </a:rPr>
              <a:t>, and G. S. </a:t>
            </a:r>
            <a:r>
              <a:rPr lang="en-IN" sz="2600" dirty="0" err="1">
                <a:latin typeface="Times New Roman" panose="02020603050405020304" pitchFamily="18" charset="0"/>
                <a:cs typeface="Times New Roman" panose="02020603050405020304" pitchFamily="18" charset="0"/>
              </a:rPr>
              <a:t>Ramtekkar</a:t>
            </a:r>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Smart Civic Issue Reporting, Resolution &amp; Waste Recycle Reward System</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International Journal of All Research Education and Scientific Methods (IJARESM)</a:t>
            </a:r>
            <a:r>
              <a:rPr lang="en-IN" sz="2600" dirty="0">
                <a:latin typeface="Times New Roman" panose="02020603050405020304" pitchFamily="18" charset="0"/>
                <a:cs typeface="Times New Roman" panose="02020603050405020304" pitchFamily="18" charset="0"/>
              </a:rPr>
              <a:t>, vol. 13, no. 11, pp. 1377–1380, Nov. 2025.</a:t>
            </a:r>
            <a:endParaRPr lang="en-IN" sz="2600" dirty="0">
              <a:latin typeface="Times New Roman" panose="02020603050405020304" pitchFamily="18" charset="0"/>
              <a:cs typeface="Times New Roman" panose="02020603050405020304" pitchFamily="18" charset="0"/>
            </a:endParaRPr>
          </a:p>
          <a:p>
            <a:pPr>
              <a:lnSpc>
                <a:spcPct val="120000"/>
              </a:lnSpc>
            </a:pPr>
            <a:r>
              <a:rPr lang="en-IN" sz="2600" dirty="0">
                <a:latin typeface="Times New Roman" panose="02020603050405020304" pitchFamily="18" charset="0"/>
                <a:cs typeface="Times New Roman" panose="02020603050405020304" pitchFamily="18" charset="0"/>
              </a:rPr>
              <a:t>[6] D. </a:t>
            </a:r>
            <a:r>
              <a:rPr lang="en-IN" sz="2600" dirty="0" err="1">
                <a:latin typeface="Times New Roman" panose="02020603050405020304" pitchFamily="18" charset="0"/>
                <a:cs typeface="Times New Roman" panose="02020603050405020304" pitchFamily="18" charset="0"/>
              </a:rPr>
              <a:t>Walwadkar</a:t>
            </a:r>
            <a:r>
              <a:rPr lang="en-IN" sz="2600" dirty="0">
                <a:latin typeface="Times New Roman" panose="02020603050405020304" pitchFamily="18" charset="0"/>
                <a:cs typeface="Times New Roman" panose="02020603050405020304" pitchFamily="18" charset="0"/>
              </a:rPr>
              <a:t> et al., “</a:t>
            </a:r>
            <a:r>
              <a:rPr lang="en-IN" sz="2600" b="1" dirty="0">
                <a:latin typeface="Times New Roman" panose="02020603050405020304" pitchFamily="18" charset="0"/>
                <a:cs typeface="Times New Roman" panose="02020603050405020304" pitchFamily="18" charset="0"/>
              </a:rPr>
              <a:t>Civic Complaint Reporting Using Image Processing and NLP Techniques</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International Journal of Advanced Research in Science, Communication and Technology (IJARSCT)</a:t>
            </a:r>
            <a:r>
              <a:rPr lang="en-IN" sz="2600" dirty="0">
                <a:latin typeface="Times New Roman" panose="02020603050405020304" pitchFamily="18" charset="0"/>
                <a:cs typeface="Times New Roman" panose="02020603050405020304" pitchFamily="18" charset="0"/>
              </a:rPr>
              <a:t>, vol. 2, no. 1, Mar. 2022.</a:t>
            </a:r>
            <a:endParaRPr lang="en-IN" sz="2600" dirty="0">
              <a:latin typeface="Times New Roman" panose="02020603050405020304" pitchFamily="18" charset="0"/>
              <a:cs typeface="Times New Roman" panose="02020603050405020304" pitchFamily="18" charset="0"/>
            </a:endParaRPr>
          </a:p>
          <a:p>
            <a:pPr>
              <a:lnSpc>
                <a:spcPct val="120000"/>
              </a:lnSpc>
            </a:pPr>
            <a:r>
              <a:rPr lang="en-IN" sz="2600" dirty="0">
                <a:latin typeface="Times New Roman" panose="02020603050405020304" pitchFamily="18" charset="0"/>
                <a:cs typeface="Times New Roman" panose="02020603050405020304" pitchFamily="18" charset="0"/>
              </a:rPr>
              <a:t>[7] A. Mohanty, P. Das, and S. Rout, “</a:t>
            </a:r>
            <a:r>
              <a:rPr lang="en-IN" sz="2600" b="1" dirty="0">
                <a:latin typeface="Times New Roman" panose="02020603050405020304" pitchFamily="18" charset="0"/>
                <a:cs typeface="Times New Roman" panose="02020603050405020304" pitchFamily="18" charset="0"/>
              </a:rPr>
              <a:t>Crowdsourced Complaint Resolution System Using Geotagging</a:t>
            </a:r>
            <a:r>
              <a:rPr lang="en-IN" sz="2600" dirty="0">
                <a:latin typeface="Times New Roman" panose="02020603050405020304" pitchFamily="18" charset="0"/>
                <a:cs typeface="Times New Roman" panose="02020603050405020304" pitchFamily="18" charset="0"/>
              </a:rPr>
              <a:t>,” </a:t>
            </a:r>
            <a:r>
              <a:rPr lang="en-IN" sz="2600" i="1" dirty="0">
                <a:latin typeface="Times New Roman" panose="02020603050405020304" pitchFamily="18" charset="0"/>
                <a:cs typeface="Times New Roman" panose="02020603050405020304" pitchFamily="18" charset="0"/>
              </a:rPr>
              <a:t>International Research Journal of Modernization in Engineering Technology and Science (IRJMETS)</a:t>
            </a:r>
            <a:r>
              <a:rPr lang="en-IN" sz="2600" dirty="0">
                <a:latin typeface="Times New Roman" panose="02020603050405020304" pitchFamily="18" charset="0"/>
                <a:cs typeface="Times New Roman" panose="02020603050405020304" pitchFamily="18" charset="0"/>
              </a:rPr>
              <a:t>, vol. 7, no. 4, Apr. 2025.</a:t>
            </a:r>
            <a:endParaRPr lang="en-IN" sz="2600" dirty="0">
              <a:latin typeface="Times New Roman" panose="02020603050405020304" pitchFamily="18" charset="0"/>
              <a:cs typeface="Times New Roman" panose="02020603050405020304" pitchFamily="18" charset="0"/>
            </a:endParaRPr>
          </a:p>
          <a:p>
            <a:pPr marL="152400" indent="0">
              <a:spcBef>
                <a:spcPts val="0"/>
              </a:spcBef>
              <a:buNone/>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426*142"/>
  <p:tag name="TABLE_ENDDRAG_RECT" val="43*214*426*142"/>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11473</Words>
  <Application>WPS Presentation</Application>
  <PresentationFormat>Widescreen</PresentationFormat>
  <Paragraphs>367</Paragraphs>
  <Slides>18</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Arial</vt:lpstr>
      <vt:lpstr>Verdana</vt:lpstr>
      <vt:lpstr>Bookman Old Style</vt:lpstr>
      <vt:lpstr>Times New Roman</vt:lpstr>
      <vt:lpstr>Cambria</vt:lpstr>
      <vt:lpstr>Tahoma</vt:lpstr>
      <vt:lpstr>Microsoft YaHei</vt:lpstr>
      <vt:lpstr>Arial Unicode MS</vt:lpstr>
      <vt:lpstr>Bioinformatics</vt:lpstr>
      <vt:lpstr>Crowdsourced Civic Issue Reporting and Resolution System</vt:lpstr>
      <vt:lpstr>Content</vt:lpstr>
      <vt:lpstr>Problem Statement Number : SIH25031</vt:lpstr>
      <vt:lpstr>ABSTRACT</vt:lpstr>
      <vt:lpstr>LITERATURE SURVEY</vt:lpstr>
      <vt:lpstr>LITERATURE SURVEY</vt:lpstr>
      <vt:lpstr>LITERATURE SURVEY</vt:lpstr>
      <vt:lpstr>LITERATURE SURVEY</vt:lpstr>
      <vt:lpstr>Objectives</vt:lpstr>
      <vt:lpstr>EXISTING METHODS &amp; DRAWBACKS</vt:lpstr>
      <vt:lpstr>PROPOSED METHOD</vt:lpstr>
      <vt:lpstr>FEASIBILITY STUDY</vt:lpstr>
      <vt:lpstr>SYSTEM ARCHITECTURE DIAGRAM</vt:lpstr>
      <vt:lpstr>MODULES</vt:lpstr>
      <vt:lpstr>SOFTWARE DETAILS</vt:lpstr>
      <vt:lpstr>TIMELINE (GANTT CHART) </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Akash Mandagere</cp:lastModifiedBy>
  <cp:revision>64</cp:revision>
  <dcterms:created xsi:type="dcterms:W3CDTF">2025-08-10T19:51:00Z</dcterms:created>
  <dcterms:modified xsi:type="dcterms:W3CDTF">2026-04-25T04:41:40Z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87963BC07B8749C191BD0B06A72519E0_13</vt:lpwstr>
  </property>
  <property fmtid="{D5CDD505-2E9C-101B-9397-08002B2CF9AE}" pid="3" name="KSOProductBuildVer">
    <vt:lpwstr>1033-12.1.0.25242</vt:lpwstr>
  </property>
</Properties>
</file>